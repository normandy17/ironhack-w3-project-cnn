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088">
          <p15:clr>
            <a:srgbClr val="747775"/>
          </p15:clr>
        </p15:guide>
        <p15:guide id="2" pos="5558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glId2CDyH2zETjAPkUlS0ubMbu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088" orient="horz"/>
        <p:guide pos="555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d6eef6ecfa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g3d6eef6ecfa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d6eef6ecfa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d6eef6ecfa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g3d6eef6ecfa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g3d6eef6ecfa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0080FF">
              <a:alpha val="14901"/>
            </a:srgbClr>
          </a:solidFill>
          <a:ln cap="flat" cmpd="sng" w="12700">
            <a:solidFill>
              <a:srgbClr val="0080FF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00C2E0">
              <a:alpha val="12156"/>
            </a:srgbClr>
          </a:solidFill>
          <a:ln cap="flat" cmpd="sng" w="12700">
            <a:solidFill>
              <a:srgbClr val="00C2E0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365760" y="640080"/>
            <a:ext cx="1005840" cy="2743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365760" y="640080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GROUP 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365760" y="109728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Image Classification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65760" y="1719072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Using Convolutional Neural Networks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365760" y="228600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CIFAR-10 Dataset  ·  Deep Learning  ·  Transfer Learning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65760" y="2788920"/>
            <a:ext cx="3200400" cy="27432"/>
          </a:xfrm>
          <a:prstGeom prst="rect">
            <a:avLst/>
          </a:prstGeom>
          <a:solidFill>
            <a:srgbClr val="00C2E0">
              <a:alpha val="70196"/>
            </a:srgbClr>
          </a:solidFill>
          <a:ln cap="flat" cmpd="sng" w="12700">
            <a:solidFill>
              <a:srgbClr val="00C2E0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365760" y="2926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Team Members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365760" y="3291840"/>
            <a:ext cx="201168" cy="201168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621792" y="3273552"/>
            <a:ext cx="1645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Charleson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286000" y="3291840"/>
            <a:ext cx="201168" cy="201168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2542032" y="3273552"/>
            <a:ext cx="1645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Harn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206240" y="3291840"/>
            <a:ext cx="201168" cy="201168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4462272" y="3273552"/>
            <a:ext cx="1645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João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274320" y="4992624"/>
            <a:ext cx="4572000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AI Engineering Bootcamp  · 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20040" y="1234440"/>
            <a:ext cx="4114800" cy="132588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484632" y="139903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97280" y="13716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Goal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097280" y="164592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Build a CNN to classify images from CIFAR-10 into 10 classes with high accuracy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4709160" y="1234440"/>
            <a:ext cx="4114800" cy="132588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4873752" y="139903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🏗️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486400" y="13716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Approach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5486400" y="164592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Progressed from a simple CNN to a deep VGG-style model, then added Transfer Learning with fine tuning.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320040" y="2788920"/>
            <a:ext cx="4114800" cy="132588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484632" y="295351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097280" y="29260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Key Techniques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097280" y="320040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Batch Normalization, Dropout, Data Augmentation, EarlyStopping, Transfer Learning (MobileNetV2), Fi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ne tuning.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4709160" y="2788920"/>
            <a:ext cx="4114800" cy="132588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4873752" y="295351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5486400" y="29260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Best Result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5486400" y="3200400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Final model (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Data Augmentation +  </a:t>
            </a: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MobileNetV2 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+ fine Tuning</a:t>
            </a: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) achieved 9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2.29</a:t>
            </a: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% Test Accuracy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CIFAR-10 Dataset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320040" y="1143000"/>
            <a:ext cx="1965960" cy="11887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320040" y="1234440"/>
            <a:ext cx="1965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60,000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320040" y="181051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Total Images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2468880" y="1143000"/>
            <a:ext cx="1965960" cy="11887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2468880" y="1234440"/>
            <a:ext cx="1965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2468880" y="181051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617720" y="1143000"/>
            <a:ext cx="1965960" cy="11887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4617720" y="1234440"/>
            <a:ext cx="1965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32×32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617720" y="181051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Image Size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766560" y="1143000"/>
            <a:ext cx="1965960" cy="11887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6766560" y="1234440"/>
            <a:ext cx="1965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50K/10K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6766560" y="181051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Train / Test Split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65760" y="25146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The 10 Classes: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20040" y="283464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20040" y="28346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✈ Airplane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2039112" y="283464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2039112" y="28346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🚗 Automobile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3758184" y="283464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3758184" y="28346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🐦 Bird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5477256" y="283464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5477256" y="28346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🐱 Cat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7196328" y="283464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7196328" y="28346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🦌 Deer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20040" y="338328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320040" y="338328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🐶 Dog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2039112" y="338328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2039112" y="338328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🐸 Frog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3758184" y="338328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"/>
          <p:cNvSpPr/>
          <p:nvPr/>
        </p:nvSpPr>
        <p:spPr>
          <a:xfrm>
            <a:off x="3758184" y="338328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🐴 Horse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5477256" y="338328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5477256" y="338328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🚢 Ship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7196328" y="3383280"/>
            <a:ext cx="1600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"/>
          <p:cNvSpPr/>
          <p:nvPr/>
        </p:nvSpPr>
        <p:spPr>
          <a:xfrm>
            <a:off x="7196328" y="338328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🚛 Truck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Preprocessing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228600" y="1188720"/>
            <a:ext cx="1508760" cy="2560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228600" y="1188720"/>
            <a:ext cx="1508760" cy="73152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228600" y="1325880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📥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274320" y="187452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Load Data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274320" y="2423160"/>
            <a:ext cx="1417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50K train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10K test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1755648" y="2423160"/>
            <a:ext cx="182880" cy="73152"/>
          </a:xfrm>
          <a:prstGeom prst="rect">
            <a:avLst/>
          </a:prstGeom>
          <a:solidFill>
            <a:srgbClr val="00C2E0">
              <a:alpha val="70196"/>
            </a:srgbClr>
          </a:solidFill>
          <a:ln cap="flat" cmpd="sng" w="12700">
            <a:solidFill>
              <a:srgbClr val="00C2E0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1965960" y="1188720"/>
            <a:ext cx="1508760" cy="2560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1965960" y="1188720"/>
            <a:ext cx="1508760" cy="73152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"/>
          <p:cNvSpPr/>
          <p:nvPr/>
        </p:nvSpPr>
        <p:spPr>
          <a:xfrm>
            <a:off x="1965960" y="1325880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🎨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2011680" y="187452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Normalize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2011680" y="2423160"/>
            <a:ext cx="1417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Pixels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÷255 → [0,1]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3493008" y="2423160"/>
            <a:ext cx="182880" cy="73152"/>
          </a:xfrm>
          <a:prstGeom prst="rect">
            <a:avLst/>
          </a:prstGeom>
          <a:solidFill>
            <a:srgbClr val="00C2E0">
              <a:alpha val="70196"/>
            </a:srgbClr>
          </a:solidFill>
          <a:ln cap="flat" cmpd="sng" w="12700">
            <a:solidFill>
              <a:srgbClr val="00C2E0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703320" y="1188720"/>
            <a:ext cx="1508760" cy="2560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3703320" y="1188720"/>
            <a:ext cx="1508760" cy="73152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3703320" y="1325880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🔢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749040" y="187452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One-Hot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Encode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749040" y="2423160"/>
            <a:ext cx="1417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3 → [0,0,0,1,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0,0,0,0,0,0]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5230368" y="2423160"/>
            <a:ext cx="182880" cy="73152"/>
          </a:xfrm>
          <a:prstGeom prst="rect">
            <a:avLst/>
          </a:prstGeom>
          <a:solidFill>
            <a:srgbClr val="00C2E0">
              <a:alpha val="70196"/>
            </a:srgbClr>
          </a:solidFill>
          <a:ln cap="flat" cmpd="sng" w="12700">
            <a:solidFill>
              <a:srgbClr val="00C2E0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5440680" y="1188720"/>
            <a:ext cx="1508760" cy="2560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5440680" y="1188720"/>
            <a:ext cx="1508760" cy="73152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5440680" y="1325880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✂️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5486400" y="187452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Train/Val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486400" y="2423160"/>
            <a:ext cx="1417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90% train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10% val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6967728" y="2423160"/>
            <a:ext cx="182880" cy="73152"/>
          </a:xfrm>
          <a:prstGeom prst="rect">
            <a:avLst/>
          </a:prstGeom>
          <a:solidFill>
            <a:srgbClr val="00C2E0">
              <a:alpha val="70196"/>
            </a:srgbClr>
          </a:solidFill>
          <a:ln cap="flat" cmpd="sng" w="12700">
            <a:solidFill>
              <a:srgbClr val="00C2E0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178040" y="1188720"/>
            <a:ext cx="1508760" cy="2560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7178040" y="1188720"/>
            <a:ext cx="1508760" cy="73152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7178040" y="1325880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🔄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7223760" y="187452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Augmentation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7223760" y="2423160"/>
            <a:ext cx="1417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Flip, Rotate,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Zoom, Shift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320040" y="3977640"/>
            <a:ext cx="8503920" cy="548640"/>
          </a:xfrm>
          <a:prstGeom prst="rect">
            <a:avLst/>
          </a:prstGeom>
          <a:solidFill>
            <a:srgbClr val="0080FF">
              <a:alpha val="14901"/>
            </a:srgbClr>
          </a:solidFill>
          <a:ln cap="flat" cmpd="sng" w="12700">
            <a:solidFill>
              <a:srgbClr val="0080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457200" y="4005072"/>
            <a:ext cx="83210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💡  Data Augmentation applies random rotations, horizontal flips, shifts and zoom to artificially increase training diversity — reducing overfitting.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Progression — Key Milestones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65760" y="9601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10 models built in total — showing the 4 most significant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201168" y="1188720"/>
            <a:ext cx="2011800" cy="3383400"/>
          </a:xfrm>
          <a:prstGeom prst="rect">
            <a:avLst/>
          </a:prstGeom>
          <a:solidFill>
            <a:srgbClr val="152B4E"/>
          </a:solidFill>
          <a:ln cap="flat" cmpd="sng" w="25400">
            <a:solidFill>
              <a:srgbClr val="FF6B6B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201168" y="1188720"/>
            <a:ext cx="2011680" cy="91440"/>
          </a:xfrm>
          <a:prstGeom prst="rect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274320" y="1316736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274320" y="1600200"/>
            <a:ext cx="1874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521208" y="1874520"/>
            <a:ext cx="1371600" cy="347472"/>
          </a:xfrm>
          <a:prstGeom prst="rect">
            <a:avLst/>
          </a:prstGeom>
          <a:solidFill>
            <a:srgbClr val="FF6B6B">
              <a:alpha val="80000"/>
            </a:srgbClr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521208" y="1874520"/>
            <a:ext cx="1371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Test: 73.56%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338328" y="2377440"/>
            <a:ext cx="91440" cy="9144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478867" y="2281229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3 Conv layers, No BN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338328" y="2852928"/>
            <a:ext cx="91440" cy="9144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478867" y="2756717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No Dropout, No Aug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338328" y="3328416"/>
            <a:ext cx="91440" cy="9144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478867" y="3232205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Adam · LR=0.001 · 10 epochs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38328" y="3803904"/>
            <a:ext cx="91440" cy="9144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478867" y="3707693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Overfitting: Train 85% vs Test 73%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2231136" y="2560320"/>
            <a:ext cx="182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2414016" y="1188720"/>
            <a:ext cx="2011680" cy="3383280"/>
          </a:xfrm>
          <a:prstGeom prst="rect">
            <a:avLst/>
          </a:prstGeom>
          <a:solidFill>
            <a:srgbClr val="152B4E"/>
          </a:solidFill>
          <a:ln cap="flat" cmpd="sng" w="25400">
            <a:solidFill>
              <a:srgbClr val="FF9F43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2414016" y="1188720"/>
            <a:ext cx="2011680" cy="91440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5"/>
          <p:cNvSpPr/>
          <p:nvPr/>
        </p:nvSpPr>
        <p:spPr>
          <a:xfrm>
            <a:off x="2487168" y="1316736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2487168" y="1600200"/>
            <a:ext cx="187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+ Dropout 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2734056" y="1874520"/>
            <a:ext cx="1371600" cy="347472"/>
          </a:xfrm>
          <a:prstGeom prst="rect">
            <a:avLst/>
          </a:prstGeom>
          <a:solidFill>
            <a:srgbClr val="FF9F43">
              <a:alpha val="80000"/>
            </a:srgbClr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2734056" y="1874520"/>
            <a:ext cx="1371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Test: </a:t>
            </a: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78.45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2551176" y="2377440"/>
            <a:ext cx="91440" cy="91440"/>
          </a:xfrm>
          <a:prstGeom prst="ellipse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2691715" y="2281229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Added Dropout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2551176" y="2852928"/>
            <a:ext cx="91440" cy="91440"/>
          </a:xfrm>
          <a:prstGeom prst="ellipse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2691715" y="2756717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Bach size </a:t>
            </a: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raised to </a:t>
            </a:r>
            <a:r>
              <a:rPr lang="en-US" sz="9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128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2551176" y="3328416"/>
            <a:ext cx="91440" cy="91440"/>
          </a:xfrm>
          <a:prstGeom prst="ellipse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2691715" y="3232205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Train≈Val accuracy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2551176" y="3803904"/>
            <a:ext cx="91440" cy="91440"/>
          </a:xfrm>
          <a:prstGeom prst="ellipse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2691715" y="3707693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Overfitting reduced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443984" y="2560320"/>
            <a:ext cx="182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4626864" y="1188720"/>
            <a:ext cx="2011680" cy="3383280"/>
          </a:xfrm>
          <a:prstGeom prst="rect">
            <a:avLst/>
          </a:prstGeom>
          <a:solidFill>
            <a:srgbClr val="152B4E"/>
          </a:solidFill>
          <a:ln cap="flat" cmpd="sng" w="25400">
            <a:solidFill>
              <a:srgbClr val="0080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4626864" y="1188720"/>
            <a:ext cx="2011680" cy="9144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4700016" y="1316736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10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4700016" y="1600200"/>
            <a:ext cx="1874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+ BN + Aug + L2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4946904" y="1874520"/>
            <a:ext cx="1371600" cy="347472"/>
          </a:xfrm>
          <a:prstGeom prst="rect">
            <a:avLst/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"/>
          <p:cNvSpPr/>
          <p:nvPr/>
        </p:nvSpPr>
        <p:spPr>
          <a:xfrm>
            <a:off x="4946904" y="1874520"/>
            <a:ext cx="1371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Test: 85.5</a:t>
            </a: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4764024" y="2377440"/>
            <a:ext cx="91440" cy="91440"/>
          </a:xfrm>
          <a:prstGeom prst="ellipse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4904563" y="2281229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BatchNorm + Dropout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4764024" y="2852928"/>
            <a:ext cx="91440" cy="91440"/>
          </a:xfrm>
          <a:prstGeom prst="ellipse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4904563" y="2756717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4764024" y="3328416"/>
            <a:ext cx="91440" cy="91440"/>
          </a:xfrm>
          <a:prstGeom prst="ellipse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4904563" y="3232205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L2 Regularizer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4764024" y="3803904"/>
            <a:ext cx="91440" cy="91440"/>
          </a:xfrm>
          <a:prstGeom prst="ellipse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4904563" y="3707693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LR Scheduler · 50 epochs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6656832" y="2560320"/>
            <a:ext cx="182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6839712" y="1188720"/>
            <a:ext cx="2011680" cy="3383280"/>
          </a:xfrm>
          <a:prstGeom prst="rect">
            <a:avLst/>
          </a:prstGeom>
          <a:solidFill>
            <a:srgbClr val="152B4E"/>
          </a:solidFill>
          <a:ln cap="flat" cmpd="sng" w="25400">
            <a:solidFill>
              <a:srgbClr val="00C2E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6839712" y="1188720"/>
            <a:ext cx="2011680" cy="9144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"/>
          <p:cNvSpPr/>
          <p:nvPr/>
        </p:nvSpPr>
        <p:spPr>
          <a:xfrm>
            <a:off x="6912864" y="1316736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912864" y="1600200"/>
            <a:ext cx="1874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Transfer Learning </a:t>
            </a:r>
            <a:r>
              <a:rPr i="1" lang="en-US" sz="950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i="1" sz="950">
              <a:solidFill>
                <a:srgbClr val="00C2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50"/>
              <a:buFont typeface="Calibri"/>
              <a:buNone/>
            </a:pPr>
            <a:r>
              <a:rPr i="1" lang="en-US" sz="950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 Data Augmentation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7159752" y="1874520"/>
            <a:ext cx="1371600" cy="347472"/>
          </a:xfrm>
          <a:prstGeom prst="rect">
            <a:avLst/>
          </a:prstGeom>
          <a:solidFill>
            <a:srgbClr val="00C2E0">
              <a:alpha val="80000"/>
            </a:srgbClr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5"/>
          <p:cNvSpPr/>
          <p:nvPr/>
        </p:nvSpPr>
        <p:spPr>
          <a:xfrm>
            <a:off x="7159752" y="1874520"/>
            <a:ext cx="1371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Test: 9</a:t>
            </a: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2.29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976872" y="2377440"/>
            <a:ext cx="91440" cy="9144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7117411" y="2281229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MobileNetV2 pretrained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6976872" y="2852928"/>
            <a:ext cx="91440" cy="9144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5"/>
          <p:cNvSpPr/>
          <p:nvPr/>
        </p:nvSpPr>
        <p:spPr>
          <a:xfrm>
            <a:off x="7117411" y="2756717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Global Avg Pooling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976872" y="3328416"/>
            <a:ext cx="91440" cy="9144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7117411" y="3232205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2-Phase Fine-Tuning with 60% unfrozen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6976872" y="3803904"/>
            <a:ext cx="91440" cy="9144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7117411" y="3707693"/>
            <a:ext cx="1664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LR Scheduler + EarlyStopping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5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7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7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OPTIMIZATION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Optimization Techniques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320040" y="1188720"/>
            <a:ext cx="2651760" cy="1417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7"/>
          <p:cNvSpPr/>
          <p:nvPr/>
        </p:nvSpPr>
        <p:spPr>
          <a:xfrm>
            <a:off x="320040" y="1188720"/>
            <a:ext cx="64008" cy="141732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7"/>
          <p:cNvSpPr/>
          <p:nvPr/>
        </p:nvSpPr>
        <p:spPr>
          <a:xfrm>
            <a:off x="457200" y="1298448"/>
            <a:ext cx="502920" cy="347472"/>
          </a:xfrm>
          <a:prstGeom prst="rect">
            <a:avLst/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457200" y="1298448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457200" y="170078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Adam Optimizer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457200" y="1993392"/>
            <a:ext cx="2423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LR = 0.00000</a:t>
            </a:r>
            <a:r>
              <a:rPr lang="en-US" sz="9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. Adapts learning rate per parameter — faster and more stable than SGD.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3200400" y="1188720"/>
            <a:ext cx="2651760" cy="1417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7"/>
          <p:cNvSpPr/>
          <p:nvPr/>
        </p:nvSpPr>
        <p:spPr>
          <a:xfrm>
            <a:off x="3200400" y="1188720"/>
            <a:ext cx="64008" cy="14173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7"/>
          <p:cNvSpPr/>
          <p:nvPr/>
        </p:nvSpPr>
        <p:spPr>
          <a:xfrm>
            <a:off x="3337560" y="1298448"/>
            <a:ext cx="502920" cy="347472"/>
          </a:xfrm>
          <a:prstGeom prst="rect">
            <a:avLst/>
          </a:prstGeom>
          <a:solidFill>
            <a:srgbClr val="00C2E0">
              <a:alpha val="80000"/>
            </a:srgbClr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3337560" y="1298448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3337560" y="170078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Batch Normalization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3337560" y="1993392"/>
            <a:ext cx="2423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Normalizes layer outputs. Stabilizes training, allows higher learning rates.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6080760" y="1188720"/>
            <a:ext cx="2651760" cy="1417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7"/>
          <p:cNvSpPr/>
          <p:nvPr/>
        </p:nvSpPr>
        <p:spPr>
          <a:xfrm>
            <a:off x="6080760" y="1188720"/>
            <a:ext cx="64008" cy="1417320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7"/>
          <p:cNvSpPr/>
          <p:nvPr/>
        </p:nvSpPr>
        <p:spPr>
          <a:xfrm>
            <a:off x="6217920" y="1298448"/>
            <a:ext cx="502920" cy="347472"/>
          </a:xfrm>
          <a:prstGeom prst="rect">
            <a:avLst/>
          </a:prstGeom>
          <a:solidFill>
            <a:srgbClr val="FF9F43">
              <a:alpha val="80000"/>
            </a:srgbClr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"/>
          <p:cNvSpPr/>
          <p:nvPr/>
        </p:nvSpPr>
        <p:spPr>
          <a:xfrm>
            <a:off x="6217920" y="1298448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6217920" y="170078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Dropout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6217920" y="1993392"/>
            <a:ext cx="2423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25% after each block, 50% before output. Randomly disables neurons to prevent overfitting.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320040" y="2788920"/>
            <a:ext cx="2651760" cy="141732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320040" y="2788920"/>
            <a:ext cx="64008" cy="1417320"/>
          </a:xfrm>
          <a:prstGeom prst="rect">
            <a:avLst/>
          </a:prstGeom>
          <a:solidFill>
            <a:srgbClr val="00D48A"/>
          </a:solidFill>
          <a:ln cap="flat" cmpd="sng" w="12700">
            <a:solidFill>
              <a:srgbClr val="00D4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457200" y="2898648"/>
            <a:ext cx="502920" cy="347472"/>
          </a:xfrm>
          <a:prstGeom prst="rect">
            <a:avLst/>
          </a:prstGeom>
          <a:solidFill>
            <a:srgbClr val="00D48A">
              <a:alpha val="80000"/>
            </a:srgbClr>
          </a:solidFill>
          <a:ln cap="flat" cmpd="sng" w="12700">
            <a:solidFill>
              <a:srgbClr val="00D4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7"/>
          <p:cNvSpPr/>
          <p:nvPr/>
        </p:nvSpPr>
        <p:spPr>
          <a:xfrm>
            <a:off x="457200" y="2898648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457200" y="330098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8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8A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457200" y="3593592"/>
            <a:ext cx="2423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Rotation, flip, shift, zoom. Creates image variations each epoch for better generalization.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6080750" y="2788920"/>
            <a:ext cx="2651700" cy="14172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7"/>
          <p:cNvSpPr/>
          <p:nvPr/>
        </p:nvSpPr>
        <p:spPr>
          <a:xfrm>
            <a:off x="6080750" y="2788920"/>
            <a:ext cx="63900" cy="1417200"/>
          </a:xfrm>
          <a:prstGeom prst="rect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6217910" y="2898648"/>
            <a:ext cx="502800" cy="347400"/>
          </a:xfrm>
          <a:prstGeom prst="rect">
            <a:avLst/>
          </a:prstGeom>
          <a:solidFill>
            <a:srgbClr val="FF6B6B">
              <a:alpha val="80000"/>
            </a:srgbClr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7"/>
          <p:cNvSpPr/>
          <p:nvPr/>
        </p:nvSpPr>
        <p:spPr>
          <a:xfrm>
            <a:off x="6217910" y="2898648"/>
            <a:ext cx="502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6217910" y="3300984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EarlyStopping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6217900" y="3593600"/>
            <a:ext cx="242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Patience = 15 epochs. Stops training when val_loss stops improving, restores best weights.</a:t>
            </a:r>
            <a:endParaRPr b="0" i="0" sz="900" u="none" cap="none" strike="noStrike">
              <a:solidFill>
                <a:srgbClr val="94B4D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rgbClr val="94B4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3200435" y="2788920"/>
            <a:ext cx="2651700" cy="14172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7"/>
          <p:cNvSpPr/>
          <p:nvPr/>
        </p:nvSpPr>
        <p:spPr>
          <a:xfrm>
            <a:off x="3200435" y="2788920"/>
            <a:ext cx="63900" cy="1417200"/>
          </a:xfrm>
          <a:prstGeom prst="rect">
            <a:avLst/>
          </a:prstGeom>
          <a:solidFill>
            <a:srgbClr val="5B7FA6"/>
          </a:solidFill>
          <a:ln cap="flat" cmpd="sng" w="12700">
            <a:solidFill>
              <a:srgbClr val="5B7F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7"/>
          <p:cNvSpPr/>
          <p:nvPr/>
        </p:nvSpPr>
        <p:spPr>
          <a:xfrm>
            <a:off x="3337595" y="2898648"/>
            <a:ext cx="502800" cy="347400"/>
          </a:xfrm>
          <a:prstGeom prst="rect">
            <a:avLst/>
          </a:prstGeom>
          <a:solidFill>
            <a:srgbClr val="5B7FA6">
              <a:alpha val="80000"/>
            </a:srgbClr>
          </a:solidFill>
          <a:ln cap="flat" cmpd="sng" w="12700">
            <a:solidFill>
              <a:srgbClr val="5B7F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3337595" y="2898648"/>
            <a:ext cx="502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3337595" y="3300984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ReduceLROnPlateau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3337595" y="3593592"/>
            <a:ext cx="242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Patience = 7 epochs. Halves learning rate when model is stuck near the optimum.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7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6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6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453310" y="502895"/>
            <a:ext cx="8412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 CNN Architecture — Model 8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164592" y="1234440"/>
            <a:ext cx="868680" cy="2560320"/>
          </a:xfrm>
          <a:prstGeom prst="rect">
            <a:avLst/>
          </a:prstGeom>
          <a:solidFill>
            <a:srgbClr val="5B7FA6">
              <a:alpha val="25098"/>
            </a:srgbClr>
          </a:solidFill>
          <a:ln cap="flat" cmpd="sng" w="25400">
            <a:solidFill>
              <a:srgbClr val="5B7FA6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164592" y="1325880"/>
            <a:ext cx="86868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×</a:t>
            </a: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×3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1051560" y="2240280"/>
            <a:ext cx="182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1234440" y="1234440"/>
            <a:ext cx="1554480" cy="2560320"/>
          </a:xfrm>
          <a:prstGeom prst="rect">
            <a:avLst/>
          </a:prstGeom>
          <a:solidFill>
            <a:srgbClr val="0080FF">
              <a:alpha val="25098"/>
            </a:srgbClr>
          </a:solidFill>
          <a:ln cap="flat" cmpd="sng" w="25400">
            <a:solidFill>
              <a:srgbClr val="0080FF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6"/>
          <p:cNvSpPr/>
          <p:nvPr/>
        </p:nvSpPr>
        <p:spPr>
          <a:xfrm>
            <a:off x="1234440" y="1325880"/>
            <a:ext cx="155448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(ImageNet)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7381038" y="2251155"/>
            <a:ext cx="18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7632643" y="1245390"/>
            <a:ext cx="1234500" cy="2560200"/>
          </a:xfrm>
          <a:prstGeom prst="rect">
            <a:avLst/>
          </a:prstGeom>
          <a:solidFill>
            <a:srgbClr val="FF9F43">
              <a:alpha val="25098"/>
            </a:srgbClr>
          </a:solidFill>
          <a:ln cap="flat" cmpd="sng" w="25400">
            <a:solidFill>
              <a:srgbClr val="FF9F43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6"/>
          <p:cNvSpPr/>
          <p:nvPr/>
        </p:nvSpPr>
        <p:spPr>
          <a:xfrm>
            <a:off x="7381050" y="1291000"/>
            <a:ext cx="16002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Fine-Tune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unfreeze last 60 layers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2738246" y="2253703"/>
            <a:ext cx="18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2959964" y="1245311"/>
            <a:ext cx="1005900" cy="2560200"/>
          </a:xfrm>
          <a:prstGeom prst="rect">
            <a:avLst/>
          </a:prstGeom>
          <a:solidFill>
            <a:srgbClr val="5B7FA6">
              <a:alpha val="25098"/>
            </a:srgbClr>
          </a:solidFill>
          <a:ln cap="flat" cmpd="sng" w="25400">
            <a:solidFill>
              <a:srgbClr val="5B7FA6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6"/>
          <p:cNvSpPr/>
          <p:nvPr/>
        </p:nvSpPr>
        <p:spPr>
          <a:xfrm>
            <a:off x="2990090" y="1325851"/>
            <a:ext cx="10059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Global Avg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Pooling 2D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3984092" y="2251151"/>
            <a:ext cx="18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6"/>
          <p:cNvSpPr/>
          <p:nvPr/>
        </p:nvSpPr>
        <p:spPr>
          <a:xfrm>
            <a:off x="4166972" y="1245311"/>
            <a:ext cx="960000" cy="2560200"/>
          </a:xfrm>
          <a:prstGeom prst="rect">
            <a:avLst/>
          </a:prstGeom>
          <a:solidFill>
            <a:srgbClr val="00C2E0">
              <a:alpha val="25098"/>
            </a:srgbClr>
          </a:solidFill>
          <a:ln cap="flat" cmpd="sng" w="25400">
            <a:solidFill>
              <a:srgbClr val="00C2E0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"/>
          <p:cNvSpPr/>
          <p:nvPr/>
        </p:nvSpPr>
        <p:spPr>
          <a:xfrm>
            <a:off x="4166972" y="1336751"/>
            <a:ext cx="9600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Batch Normalization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6"/>
          <p:cNvSpPr/>
          <p:nvPr/>
        </p:nvSpPr>
        <p:spPr>
          <a:xfrm>
            <a:off x="5145380" y="2251151"/>
            <a:ext cx="18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5328260" y="1245311"/>
            <a:ext cx="960000" cy="2560200"/>
          </a:xfrm>
          <a:prstGeom prst="rect">
            <a:avLst/>
          </a:prstGeom>
          <a:solidFill>
            <a:srgbClr val="00C2E0">
              <a:alpha val="25098"/>
            </a:srgbClr>
          </a:solidFill>
          <a:ln cap="flat" cmpd="sng" w="25400">
            <a:solidFill>
              <a:srgbClr val="00C2E0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6"/>
          <p:cNvSpPr/>
          <p:nvPr/>
        </p:nvSpPr>
        <p:spPr>
          <a:xfrm>
            <a:off x="5328260" y="1336751"/>
            <a:ext cx="9600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Dense(256)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Drop(0.</a:t>
            </a: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6"/>
          <p:cNvSpPr/>
          <p:nvPr/>
        </p:nvSpPr>
        <p:spPr>
          <a:xfrm>
            <a:off x="6306668" y="2251151"/>
            <a:ext cx="18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6"/>
          <p:cNvSpPr/>
          <p:nvPr/>
        </p:nvSpPr>
        <p:spPr>
          <a:xfrm>
            <a:off x="6489548" y="1245311"/>
            <a:ext cx="822900" cy="2560200"/>
          </a:xfrm>
          <a:prstGeom prst="rect">
            <a:avLst/>
          </a:prstGeom>
          <a:solidFill>
            <a:srgbClr val="00D48A">
              <a:alpha val="25098"/>
            </a:srgbClr>
          </a:solidFill>
          <a:ln cap="flat" cmpd="sng" w="25400">
            <a:solidFill>
              <a:srgbClr val="00D48A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6"/>
          <p:cNvSpPr/>
          <p:nvPr/>
        </p:nvSpPr>
        <p:spPr>
          <a:xfrm>
            <a:off x="6489548" y="1336751"/>
            <a:ext cx="8229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Softmax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classes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6"/>
          <p:cNvSpPr/>
          <p:nvPr/>
        </p:nvSpPr>
        <p:spPr>
          <a:xfrm>
            <a:off x="1069848" y="3931920"/>
            <a:ext cx="1600200" cy="201168"/>
          </a:xfrm>
          <a:prstGeom prst="rect">
            <a:avLst/>
          </a:prstGeom>
          <a:solidFill>
            <a:srgbClr val="0080FF">
              <a:alpha val="25098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6"/>
          <p:cNvSpPr/>
          <p:nvPr/>
        </p:nvSpPr>
        <p:spPr>
          <a:xfrm>
            <a:off x="1069848" y="3931920"/>
            <a:ext cx="1600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 — LR=</a:t>
            </a:r>
            <a:r>
              <a:rPr lang="en-US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1e-3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6"/>
          <p:cNvSpPr/>
          <p:nvPr/>
        </p:nvSpPr>
        <p:spPr>
          <a:xfrm>
            <a:off x="2834640" y="3931920"/>
            <a:ext cx="1280160" cy="201168"/>
          </a:xfrm>
          <a:prstGeom prst="rect">
            <a:avLst/>
          </a:prstGeom>
          <a:solidFill>
            <a:srgbClr val="FF9F43">
              <a:alpha val="25098"/>
            </a:srgbClr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6"/>
          <p:cNvSpPr/>
          <p:nvPr/>
        </p:nvSpPr>
        <p:spPr>
          <a:xfrm>
            <a:off x="2834640" y="393192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 — LR=</a:t>
            </a:r>
            <a:r>
              <a:rPr lang="en-US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1e-3 - 1e-6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320040" y="4251960"/>
            <a:ext cx="2651760" cy="4572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6"/>
          <p:cNvSpPr/>
          <p:nvPr/>
        </p:nvSpPr>
        <p:spPr>
          <a:xfrm>
            <a:off x="320040" y="425196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Pre-trained on ImageNet  ·  1.2M images — knows edges, shapes, textures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3200400" y="4251960"/>
            <a:ext cx="2651760" cy="4572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6"/>
          <p:cNvSpPr/>
          <p:nvPr/>
        </p:nvSpPr>
        <p:spPr>
          <a:xfrm>
            <a:off x="3200400" y="425196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include_top=False  ·  Remove original classifier, add our own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6"/>
          <p:cNvSpPr/>
          <p:nvPr/>
        </p:nvSpPr>
        <p:spPr>
          <a:xfrm>
            <a:off x="6080760" y="4251960"/>
            <a:ext cx="2651760" cy="4572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6080760" y="425196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Resize to </a:t>
            </a:r>
            <a:r>
              <a:rPr lang="en-US" sz="9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96x96</a:t>
            </a:r>
            <a:r>
              <a:rPr b="0" i="0" lang="en-US" sz="9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  ·  CIFAR-10 is 32×32 — too small for MobileNetV2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6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8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8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 LEARNING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365750" y="457200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 Learning 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43550" y="1234450"/>
            <a:ext cx="8680500" cy="34746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8"/>
          <p:cNvSpPr/>
          <p:nvPr/>
        </p:nvSpPr>
        <p:spPr>
          <a:xfrm>
            <a:off x="457200" y="1234440"/>
            <a:ext cx="3657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Why MobileNetV2?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475488" y="1691640"/>
            <a:ext cx="137160" cy="13716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8"/>
          <p:cNvSpPr/>
          <p:nvPr/>
        </p:nvSpPr>
        <p:spPr>
          <a:xfrm>
            <a:off x="685800" y="1655064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Pre-trained on 1.2M ImageNet images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475488" y="2194560"/>
            <a:ext cx="137160" cy="13716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8"/>
          <p:cNvSpPr/>
          <p:nvPr/>
        </p:nvSpPr>
        <p:spPr>
          <a:xfrm>
            <a:off x="685800" y="2157984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Already knows edges, textures &amp; shapes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475488" y="2697480"/>
            <a:ext cx="137160" cy="13716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8"/>
          <p:cNvSpPr/>
          <p:nvPr/>
        </p:nvSpPr>
        <p:spPr>
          <a:xfrm>
            <a:off x="685800" y="2660904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Lightweight and efficient on 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475488" y="3200400"/>
            <a:ext cx="137160" cy="13716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8"/>
          <p:cNvSpPr/>
          <p:nvPr/>
        </p:nvSpPr>
        <p:spPr>
          <a:xfrm>
            <a:off x="685800" y="3163824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include_top=False → custom classifier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8"/>
          <p:cNvSpPr/>
          <p:nvPr/>
        </p:nvSpPr>
        <p:spPr>
          <a:xfrm>
            <a:off x="475488" y="3703320"/>
            <a:ext cx="137160" cy="137160"/>
          </a:xfrm>
          <a:prstGeom prst="ellipse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685800" y="3666744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Input resized to 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r>
              <a:rPr b="0" i="0" lang="en-US" sz="11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×</a:t>
            </a:r>
            <a:r>
              <a:rPr lang="en-US" sz="11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d6eef6ecfa_0_2"/>
          <p:cNvSpPr/>
          <p:nvPr/>
        </p:nvSpPr>
        <p:spPr>
          <a:xfrm>
            <a:off x="365760" y="201168"/>
            <a:ext cx="1280100" cy="255900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g3d6eef6ecfa_0_2"/>
          <p:cNvSpPr/>
          <p:nvPr/>
        </p:nvSpPr>
        <p:spPr>
          <a:xfrm>
            <a:off x="365760" y="201168"/>
            <a:ext cx="1280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 LEARNING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g3d6eef6ecfa_0_2"/>
          <p:cNvSpPr/>
          <p:nvPr/>
        </p:nvSpPr>
        <p:spPr>
          <a:xfrm>
            <a:off x="365750" y="457200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MobileNetV2</a:t>
            </a: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with Data 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ugmentation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g3d6eef6ecfa_0_2"/>
          <p:cNvSpPr/>
          <p:nvPr/>
        </p:nvSpPr>
        <p:spPr>
          <a:xfrm>
            <a:off x="320040" y="1234450"/>
            <a:ext cx="3931800" cy="34746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g3d6eef6ecfa_0_2"/>
          <p:cNvSpPr/>
          <p:nvPr/>
        </p:nvSpPr>
        <p:spPr>
          <a:xfrm>
            <a:off x="320050" y="1234453"/>
            <a:ext cx="3657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lang="en-US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Transfer Learning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g3d6eef6ecfa_0_2"/>
          <p:cNvSpPr/>
          <p:nvPr/>
        </p:nvSpPr>
        <p:spPr>
          <a:xfrm>
            <a:off x="320045" y="1801465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Phase 1 — Train Classifier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g3d6eef6ecfa_0_2"/>
          <p:cNvSpPr/>
          <p:nvPr/>
        </p:nvSpPr>
        <p:spPr>
          <a:xfrm>
            <a:off x="320045" y="2121505"/>
            <a:ext cx="4023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Base model frozen · LR = 0.001 · 2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 epochs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Only Dense layers updated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g3d6eef6ecfa_0_2"/>
          <p:cNvSpPr/>
          <p:nvPr/>
        </p:nvSpPr>
        <p:spPr>
          <a:xfrm>
            <a:off x="4480550" y="1234450"/>
            <a:ext cx="4343400" cy="33834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d6eef6ecfa_0_2"/>
          <p:cNvSpPr/>
          <p:nvPr/>
        </p:nvSpPr>
        <p:spPr>
          <a:xfrm>
            <a:off x="320045" y="2926230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Phase 2 — Fine-Tuning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g3d6eef6ecfa_0_2"/>
          <p:cNvSpPr/>
          <p:nvPr/>
        </p:nvSpPr>
        <p:spPr>
          <a:xfrm>
            <a:off x="320050" y="3374277"/>
            <a:ext cx="4023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Last 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0 layers unfrozen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LR = 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1e-3 - 1e-6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0 epochs · Callbacks active (ES &amp; LR)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d6eef6ecfa_0_2"/>
          <p:cNvSpPr/>
          <p:nvPr/>
        </p:nvSpPr>
        <p:spPr>
          <a:xfrm>
            <a:off x="4480560" y="4617720"/>
            <a:ext cx="4343400" cy="274200"/>
          </a:xfrm>
          <a:prstGeom prst="rect">
            <a:avLst/>
          </a:prstGeom>
          <a:solidFill>
            <a:srgbClr val="00C2E0">
              <a:alpha val="20000"/>
            </a:srgbClr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d6eef6ecfa_0_2"/>
          <p:cNvSpPr/>
          <p:nvPr/>
        </p:nvSpPr>
        <p:spPr>
          <a:xfrm>
            <a:off x="4480560" y="4617720"/>
            <a:ext cx="4343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Result: ~90%+ Test Accuracy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d6eef6ecfa_0_2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g3d6eef6ecfa_0_2"/>
          <p:cNvSpPr/>
          <p:nvPr/>
        </p:nvSpPr>
        <p:spPr>
          <a:xfrm>
            <a:off x="8686800" y="4846320"/>
            <a:ext cx="365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3d6eef6ecfa_0_2"/>
          <p:cNvSpPr/>
          <p:nvPr/>
        </p:nvSpPr>
        <p:spPr>
          <a:xfrm>
            <a:off x="4480550" y="1234440"/>
            <a:ext cx="3657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lang="en-US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g3d6eef6ecfa_0_2"/>
          <p:cNvSpPr/>
          <p:nvPr/>
        </p:nvSpPr>
        <p:spPr>
          <a:xfrm>
            <a:off x="4480545" y="1726665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Horizontal flip = True</a:t>
            </a:r>
            <a:endParaRPr b="1" sz="1300">
              <a:solidFill>
                <a:srgbClr val="0080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g3d6eef6ecfa_0_2"/>
          <p:cNvSpPr/>
          <p:nvPr/>
        </p:nvSpPr>
        <p:spPr>
          <a:xfrm>
            <a:off x="4480545" y="2434640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Width &amp; Height Shift = 0.1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g3d6eef6ecfa_0_2"/>
          <p:cNvSpPr/>
          <p:nvPr/>
        </p:nvSpPr>
        <p:spPr>
          <a:xfrm>
            <a:off x="4522345" y="3055815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Rotation range = 15</a:t>
            </a:r>
            <a:endParaRPr b="1" sz="1300">
              <a:solidFill>
                <a:srgbClr val="0080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g3d6eef6ecfa_0_2"/>
          <p:cNvSpPr/>
          <p:nvPr/>
        </p:nvSpPr>
        <p:spPr>
          <a:xfrm>
            <a:off x="4522345" y="3676990"/>
            <a:ext cx="4023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80FF"/>
                </a:solidFill>
                <a:latin typeface="Calibri"/>
                <a:ea typeface="Calibri"/>
                <a:cs typeface="Calibri"/>
                <a:sym typeface="Calibri"/>
              </a:rPr>
              <a:t>Zoom range = 0.1</a:t>
            </a:r>
            <a:endParaRPr b="1" sz="1300">
              <a:solidFill>
                <a:srgbClr val="0080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g3d6eef6ecfa_0_2"/>
          <p:cNvSpPr/>
          <p:nvPr/>
        </p:nvSpPr>
        <p:spPr>
          <a:xfrm>
            <a:off x="4526300" y="2000875"/>
            <a:ext cx="3931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Flip 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entire image left/right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d6eef6ecfa_0_2"/>
          <p:cNvSpPr/>
          <p:nvPr/>
        </p:nvSpPr>
        <p:spPr>
          <a:xfrm>
            <a:off x="4480550" y="2700800"/>
            <a:ext cx="3931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Shifts image 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horizontally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 &amp; vertically up to 10%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d6eef6ecfa_0_2"/>
          <p:cNvSpPr/>
          <p:nvPr/>
        </p:nvSpPr>
        <p:spPr>
          <a:xfrm>
            <a:off x="4526300" y="3309300"/>
            <a:ext cx="3931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Rotates image up to 15º</a:t>
            </a:r>
            <a:endParaRPr sz="1050">
              <a:solidFill>
                <a:srgbClr val="94B4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d6eef6ecfa_0_2"/>
          <p:cNvSpPr/>
          <p:nvPr/>
        </p:nvSpPr>
        <p:spPr>
          <a:xfrm>
            <a:off x="4480550" y="3963513"/>
            <a:ext cx="3931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Zooms in/out affecting both width and height simultaneously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040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"/>
          <p:cNvSpPr/>
          <p:nvPr/>
        </p:nvSpPr>
        <p:spPr>
          <a:xfrm>
            <a:off x="365760" y="201168"/>
            <a:ext cx="1280160" cy="256032"/>
          </a:xfrm>
          <a:prstGeom prst="roundRect">
            <a:avLst>
              <a:gd fmla="val 17857" name="adj"/>
            </a:avLst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9"/>
          <p:cNvSpPr/>
          <p:nvPr/>
        </p:nvSpPr>
        <p:spPr>
          <a:xfrm>
            <a:off x="365760" y="201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Evaluation &amp; Results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20040" y="1188720"/>
            <a:ext cx="2194560" cy="36576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9"/>
          <p:cNvSpPr/>
          <p:nvPr/>
        </p:nvSpPr>
        <p:spPr>
          <a:xfrm>
            <a:off x="320040" y="118872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2560320" y="1188720"/>
            <a:ext cx="2743200" cy="36576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9"/>
          <p:cNvSpPr/>
          <p:nvPr/>
        </p:nvSpPr>
        <p:spPr>
          <a:xfrm>
            <a:off x="2560320" y="11887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Changes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5349240" y="1188720"/>
            <a:ext cx="1645920" cy="36576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9"/>
          <p:cNvSpPr/>
          <p:nvPr/>
        </p:nvSpPr>
        <p:spPr>
          <a:xfrm>
            <a:off x="534924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 Accuracy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"/>
          <p:cNvSpPr/>
          <p:nvPr/>
        </p:nvSpPr>
        <p:spPr>
          <a:xfrm>
            <a:off x="7040880" y="1188720"/>
            <a:ext cx="1463040" cy="365760"/>
          </a:xfrm>
          <a:prstGeom prst="rect">
            <a:avLst/>
          </a:prstGeom>
          <a:solidFill>
            <a:srgbClr val="0080FF"/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9"/>
          <p:cNvSpPr/>
          <p:nvPr/>
        </p:nvSpPr>
        <p:spPr>
          <a:xfrm>
            <a:off x="7040880" y="11887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Overfitting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"/>
          <p:cNvSpPr/>
          <p:nvPr/>
        </p:nvSpPr>
        <p:spPr>
          <a:xfrm>
            <a:off x="320040" y="1600200"/>
            <a:ext cx="219456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320040" y="160020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Model 1 — Baseline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9"/>
          <p:cNvSpPr/>
          <p:nvPr/>
        </p:nvSpPr>
        <p:spPr>
          <a:xfrm>
            <a:off x="2560320" y="1600200"/>
            <a:ext cx="2743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2560320" y="1600200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No regularization · Adam · 10 epochs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5349240" y="1600200"/>
            <a:ext cx="164592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5349240" y="160020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73.56%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9"/>
          <p:cNvSpPr/>
          <p:nvPr/>
        </p:nvSpPr>
        <p:spPr>
          <a:xfrm>
            <a:off x="7040880" y="1600200"/>
            <a:ext cx="146304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7040880" y="160020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Severe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320040" y="2011680"/>
            <a:ext cx="219456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320040" y="201168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Model 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 — + Dropout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9"/>
          <p:cNvSpPr/>
          <p:nvPr/>
        </p:nvSpPr>
        <p:spPr>
          <a:xfrm>
            <a:off x="2560320" y="2011680"/>
            <a:ext cx="2743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2560320" y="2011680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Dropout ·B</a:t>
            </a:r>
            <a:r>
              <a:rPr lang="en-US" sz="105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atch Size (128)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5349240" y="2011680"/>
            <a:ext cx="164592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5349240" y="201168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77.87%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9"/>
          <p:cNvSpPr/>
          <p:nvPr/>
        </p:nvSpPr>
        <p:spPr>
          <a:xfrm>
            <a:off x="7040880" y="2011680"/>
            <a:ext cx="146304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7040880" y="20116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9"/>
          <p:cNvSpPr/>
          <p:nvPr/>
        </p:nvSpPr>
        <p:spPr>
          <a:xfrm>
            <a:off x="320040" y="2423160"/>
            <a:ext cx="219456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320040" y="242316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Model 10 — + BN + Aug + L2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9"/>
          <p:cNvSpPr/>
          <p:nvPr/>
        </p:nvSpPr>
        <p:spPr>
          <a:xfrm>
            <a:off x="2560320" y="2423160"/>
            <a:ext cx="274320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9"/>
          <p:cNvSpPr/>
          <p:nvPr/>
        </p:nvSpPr>
        <p:spPr>
          <a:xfrm>
            <a:off x="2560320" y="2423160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BatchNorm · Data Aug · L2 · LR Scheduler · 50 ep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9"/>
          <p:cNvSpPr/>
          <p:nvPr/>
        </p:nvSpPr>
        <p:spPr>
          <a:xfrm>
            <a:off x="5349240" y="2423160"/>
            <a:ext cx="164592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5349240" y="242316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85.</a:t>
            </a:r>
            <a:r>
              <a:rPr b="1" lang="en-US" sz="12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51</a:t>
            </a:r>
            <a:r>
              <a:rPr b="1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9"/>
          <p:cNvSpPr/>
          <p:nvPr/>
        </p:nvSpPr>
        <p:spPr>
          <a:xfrm>
            <a:off x="7040880" y="2423160"/>
            <a:ext cx="1463040" cy="384048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9"/>
          <p:cNvSpPr/>
          <p:nvPr/>
        </p:nvSpPr>
        <p:spPr>
          <a:xfrm>
            <a:off x="7040880" y="242316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None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9"/>
          <p:cNvSpPr/>
          <p:nvPr/>
        </p:nvSpPr>
        <p:spPr>
          <a:xfrm>
            <a:off x="320040" y="2834640"/>
            <a:ext cx="2194560" cy="384048"/>
          </a:xfrm>
          <a:prstGeom prst="rect">
            <a:avLst/>
          </a:prstGeom>
          <a:solidFill>
            <a:srgbClr val="00C2E0">
              <a:alpha val="14901"/>
            </a:srgbClr>
          </a:solidFill>
          <a:ln cap="flat" cmpd="sng" w="12700">
            <a:solidFill>
              <a:srgbClr val="00C2E0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9"/>
          <p:cNvSpPr/>
          <p:nvPr/>
        </p:nvSpPr>
        <p:spPr>
          <a:xfrm>
            <a:off x="320040" y="283464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8 — T</a:t>
            </a: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 + Aug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(FINAL)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9"/>
          <p:cNvSpPr/>
          <p:nvPr/>
        </p:nvSpPr>
        <p:spPr>
          <a:xfrm>
            <a:off x="2560320" y="2834640"/>
            <a:ext cx="2743200" cy="384048"/>
          </a:xfrm>
          <a:prstGeom prst="rect">
            <a:avLst/>
          </a:prstGeom>
          <a:solidFill>
            <a:srgbClr val="00C2E0">
              <a:alpha val="14901"/>
            </a:srgbClr>
          </a:solidFill>
          <a:ln cap="flat" cmpd="sng" w="12700">
            <a:solidFill>
              <a:srgbClr val="00C2E0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9"/>
          <p:cNvSpPr/>
          <p:nvPr/>
        </p:nvSpPr>
        <p:spPr>
          <a:xfrm>
            <a:off x="2560320" y="2834640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MobileNetV2 ·</a:t>
            </a: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sz="10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Fine-Tuning · LR Scheduler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9"/>
          <p:cNvSpPr/>
          <p:nvPr/>
        </p:nvSpPr>
        <p:spPr>
          <a:xfrm>
            <a:off x="5349240" y="2834640"/>
            <a:ext cx="1645920" cy="384048"/>
          </a:xfrm>
          <a:prstGeom prst="rect">
            <a:avLst/>
          </a:prstGeom>
          <a:solidFill>
            <a:srgbClr val="00C2E0">
              <a:alpha val="14901"/>
            </a:srgbClr>
          </a:solidFill>
          <a:ln cap="flat" cmpd="sng" w="12700">
            <a:solidFill>
              <a:srgbClr val="00C2E0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9"/>
          <p:cNvSpPr/>
          <p:nvPr/>
        </p:nvSpPr>
        <p:spPr>
          <a:xfrm>
            <a:off x="5349240" y="283464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lang="en-US" sz="1200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-US" sz="12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.2</a:t>
            </a:r>
            <a:r>
              <a:rPr b="1" lang="en-US" sz="1200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i="0" lang="en-US" sz="12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9"/>
          <p:cNvSpPr/>
          <p:nvPr/>
        </p:nvSpPr>
        <p:spPr>
          <a:xfrm>
            <a:off x="7040880" y="2834640"/>
            <a:ext cx="1463040" cy="384048"/>
          </a:xfrm>
          <a:prstGeom prst="rect">
            <a:avLst/>
          </a:prstGeom>
          <a:solidFill>
            <a:srgbClr val="00C2E0">
              <a:alpha val="14901"/>
            </a:srgbClr>
          </a:solidFill>
          <a:ln cap="flat" cmpd="sng" w="12700">
            <a:solidFill>
              <a:srgbClr val="00C2E0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9"/>
          <p:cNvSpPr/>
          <p:nvPr/>
        </p:nvSpPr>
        <p:spPr>
          <a:xfrm>
            <a:off x="7040880" y="283464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9"/>
          <p:cNvSpPr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9"/>
          <p:cNvSpPr/>
          <p:nvPr/>
        </p:nvSpPr>
        <p:spPr>
          <a:xfrm>
            <a:off x="457200" y="41879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📊  Evaluation metrics include: Confusion Matrix · Precision · Recall · F1-Score per class · Misclassified image analysis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9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1"/>
          <p:cNvSpPr/>
          <p:nvPr/>
        </p:nvSpPr>
        <p:spPr>
          <a:xfrm>
            <a:off x="-649875" y="2777488"/>
            <a:ext cx="4572000" cy="4572000"/>
          </a:xfrm>
          <a:prstGeom prst="ellipse">
            <a:avLst/>
          </a:prstGeom>
          <a:solidFill>
            <a:srgbClr val="0080FF">
              <a:alpha val="10196"/>
            </a:srgbClr>
          </a:solidFill>
          <a:ln cap="flat" cmpd="sng" w="12700">
            <a:solidFill>
              <a:srgbClr val="0080FF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00C2E0">
              <a:alpha val="10196"/>
            </a:srgbClr>
          </a:solidFill>
          <a:ln cap="flat" cmpd="sng" w="12700">
            <a:solidFill>
              <a:srgbClr val="00C2E0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365760" y="36576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Challenges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320040" y="1051560"/>
            <a:ext cx="8503920" cy="59436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80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320040" y="1051560"/>
            <a:ext cx="594360" cy="594360"/>
          </a:xfrm>
          <a:prstGeom prst="rect">
            <a:avLst/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320040" y="105156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1005840" y="1051560"/>
            <a:ext cx="7680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Problems</a:t>
            </a:r>
            <a:r>
              <a:rPr lang="en-US" sz="12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 with the RAM and GPU when running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320040" y="1764792"/>
            <a:ext cx="8503920" cy="59436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1"/>
          <p:cNvSpPr/>
          <p:nvPr/>
        </p:nvSpPr>
        <p:spPr>
          <a:xfrm>
            <a:off x="320040" y="1764792"/>
            <a:ext cx="594360" cy="594360"/>
          </a:xfrm>
          <a:prstGeom prst="rect">
            <a:avLst/>
          </a:prstGeom>
          <a:solidFill>
            <a:srgbClr val="00C2E0">
              <a:alpha val="80000"/>
            </a:srgbClr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1"/>
          <p:cNvSpPr/>
          <p:nvPr/>
        </p:nvSpPr>
        <p:spPr>
          <a:xfrm>
            <a:off x="320040" y="176479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1005840" y="1764792"/>
            <a:ext cx="76809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Choosing the right hyperparameters, without the model overfiting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1"/>
          <p:cNvSpPr/>
          <p:nvPr/>
        </p:nvSpPr>
        <p:spPr>
          <a:xfrm>
            <a:off x="320040" y="2560319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FF9F43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1"/>
          <p:cNvSpPr/>
          <p:nvPr/>
        </p:nvSpPr>
        <p:spPr>
          <a:xfrm>
            <a:off x="320065" y="2560331"/>
            <a:ext cx="594300" cy="594300"/>
          </a:xfrm>
          <a:prstGeom prst="rect">
            <a:avLst/>
          </a:prstGeom>
          <a:solidFill>
            <a:srgbClr val="FF9F43">
              <a:alpha val="80000"/>
            </a:srgbClr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1"/>
          <p:cNvSpPr/>
          <p:nvPr/>
        </p:nvSpPr>
        <p:spPr>
          <a:xfrm>
            <a:off x="320065" y="2560331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1005840" y="2560319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Google Colab (RAM) does not support image &gt; 96x96. (Resizing: Transfer Learning)</a:t>
            </a:r>
            <a:endParaRPr b="0" i="0" sz="1200" u="none" cap="none" strike="noStrike">
              <a:solidFill>
                <a:srgbClr val="94B4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1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6eef6ecfa_0_36"/>
          <p:cNvSpPr/>
          <p:nvPr/>
        </p:nvSpPr>
        <p:spPr>
          <a:xfrm>
            <a:off x="-914400" y="2743200"/>
            <a:ext cx="4572000" cy="4572000"/>
          </a:xfrm>
          <a:prstGeom prst="ellipse">
            <a:avLst/>
          </a:prstGeom>
          <a:solidFill>
            <a:srgbClr val="0080FF">
              <a:alpha val="10200"/>
            </a:srgbClr>
          </a:solidFill>
          <a:ln cap="flat" cmpd="sng" w="12700">
            <a:solidFill>
              <a:srgbClr val="0080FF">
                <a:alpha val="1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g3d6eef6ecfa_0_36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00C2E0">
              <a:alpha val="10200"/>
            </a:srgbClr>
          </a:solidFill>
          <a:ln cap="flat" cmpd="sng" w="12700">
            <a:solidFill>
              <a:srgbClr val="00C2E0">
                <a:alpha val="102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g3d6eef6ecfa_0_36"/>
          <p:cNvSpPr/>
          <p:nvPr/>
        </p:nvSpPr>
        <p:spPr>
          <a:xfrm>
            <a:off x="365760" y="365760"/>
            <a:ext cx="8412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Recap &amp; Key Learnings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g3d6eef6ecfa_0_36"/>
          <p:cNvSpPr/>
          <p:nvPr/>
        </p:nvSpPr>
        <p:spPr>
          <a:xfrm>
            <a:off x="320040" y="1051560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80FF">
                <a:alpha val="5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g3d6eef6ecfa_0_36"/>
          <p:cNvSpPr/>
          <p:nvPr/>
        </p:nvSpPr>
        <p:spPr>
          <a:xfrm>
            <a:off x="320040" y="1051560"/>
            <a:ext cx="594300" cy="594300"/>
          </a:xfrm>
          <a:prstGeom prst="rect">
            <a:avLst/>
          </a:prstGeom>
          <a:solidFill>
            <a:srgbClr val="0080FF">
              <a:alpha val="80000"/>
            </a:srgbClr>
          </a:solidFill>
          <a:ln cap="flat" cmpd="sng" w="12700">
            <a:solidFill>
              <a:srgbClr val="008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d6eef6ecfa_0_36"/>
          <p:cNvSpPr/>
          <p:nvPr/>
        </p:nvSpPr>
        <p:spPr>
          <a:xfrm>
            <a:off x="320040" y="1051560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d6eef6ecfa_0_36"/>
          <p:cNvSpPr/>
          <p:nvPr/>
        </p:nvSpPr>
        <p:spPr>
          <a:xfrm>
            <a:off x="1005840" y="1051560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CNN architecture depth directly impacts accuracy — 2 Conv per block beats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g3d6eef6ecfa_0_36"/>
          <p:cNvSpPr/>
          <p:nvPr/>
        </p:nvSpPr>
        <p:spPr>
          <a:xfrm>
            <a:off x="320040" y="1764792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C2E0">
                <a:alpha val="5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g3d6eef6ecfa_0_36"/>
          <p:cNvSpPr/>
          <p:nvPr/>
        </p:nvSpPr>
        <p:spPr>
          <a:xfrm>
            <a:off x="320040" y="1764792"/>
            <a:ext cx="594300" cy="594300"/>
          </a:xfrm>
          <a:prstGeom prst="rect">
            <a:avLst/>
          </a:prstGeom>
          <a:solidFill>
            <a:srgbClr val="00C2E0">
              <a:alpha val="80000"/>
            </a:srgbClr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3d6eef6ecfa_0_36"/>
          <p:cNvSpPr/>
          <p:nvPr/>
        </p:nvSpPr>
        <p:spPr>
          <a:xfrm>
            <a:off x="320040" y="1764792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d6eef6ecfa_0_36"/>
          <p:cNvSpPr/>
          <p:nvPr/>
        </p:nvSpPr>
        <p:spPr>
          <a:xfrm>
            <a:off x="1005840" y="1764792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BatchNormalization is the single most impactful regularization technique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g3d6eef6ecfa_0_36"/>
          <p:cNvSpPr/>
          <p:nvPr/>
        </p:nvSpPr>
        <p:spPr>
          <a:xfrm>
            <a:off x="320040" y="2478024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00D48A">
                <a:alpha val="5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g3d6eef6ecfa_0_36"/>
          <p:cNvSpPr/>
          <p:nvPr/>
        </p:nvSpPr>
        <p:spPr>
          <a:xfrm>
            <a:off x="320040" y="2478024"/>
            <a:ext cx="594300" cy="594300"/>
          </a:xfrm>
          <a:prstGeom prst="rect">
            <a:avLst/>
          </a:prstGeom>
          <a:solidFill>
            <a:srgbClr val="00D48A">
              <a:alpha val="80000"/>
            </a:srgbClr>
          </a:solidFill>
          <a:ln cap="flat" cmpd="sng" w="12700">
            <a:solidFill>
              <a:srgbClr val="00D4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g3d6eef6ecfa_0_36"/>
          <p:cNvSpPr/>
          <p:nvPr/>
        </p:nvSpPr>
        <p:spPr>
          <a:xfrm>
            <a:off x="320040" y="2478024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g3d6eef6ecfa_0_36"/>
          <p:cNvSpPr/>
          <p:nvPr/>
        </p:nvSpPr>
        <p:spPr>
          <a:xfrm>
            <a:off x="1005840" y="2478024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Data Augmentation effectively reduces overfitting without extra data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g3d6eef6ecfa_0_36"/>
          <p:cNvSpPr/>
          <p:nvPr/>
        </p:nvSpPr>
        <p:spPr>
          <a:xfrm>
            <a:off x="320040" y="3191256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FF9F43">
                <a:alpha val="5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g3d6eef6ecfa_0_36"/>
          <p:cNvSpPr/>
          <p:nvPr/>
        </p:nvSpPr>
        <p:spPr>
          <a:xfrm>
            <a:off x="320040" y="3191256"/>
            <a:ext cx="594300" cy="594300"/>
          </a:xfrm>
          <a:prstGeom prst="rect">
            <a:avLst/>
          </a:prstGeom>
          <a:solidFill>
            <a:srgbClr val="FF9F43">
              <a:alpha val="80000"/>
            </a:srgbClr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d6eef6ecfa_0_36"/>
          <p:cNvSpPr/>
          <p:nvPr/>
        </p:nvSpPr>
        <p:spPr>
          <a:xfrm>
            <a:off x="320040" y="3191256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g3d6eef6ecfa_0_36"/>
          <p:cNvSpPr/>
          <p:nvPr/>
        </p:nvSpPr>
        <p:spPr>
          <a:xfrm>
            <a:off x="1005840" y="3191256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Transfer Learning with MobileNetV2 achieves superior results with less training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g3d6eef6ecfa_0_36"/>
          <p:cNvSpPr/>
          <p:nvPr/>
        </p:nvSpPr>
        <p:spPr>
          <a:xfrm>
            <a:off x="320040" y="3904488"/>
            <a:ext cx="8503800" cy="594300"/>
          </a:xfrm>
          <a:prstGeom prst="rect">
            <a:avLst/>
          </a:prstGeom>
          <a:solidFill>
            <a:srgbClr val="152B4E"/>
          </a:solidFill>
          <a:ln cap="flat" cmpd="sng" w="12700">
            <a:solidFill>
              <a:srgbClr val="5B7FA6">
                <a:alpha val="5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d6eef6ecfa_0_36"/>
          <p:cNvSpPr/>
          <p:nvPr/>
        </p:nvSpPr>
        <p:spPr>
          <a:xfrm>
            <a:off x="320040" y="3904488"/>
            <a:ext cx="594300" cy="594300"/>
          </a:xfrm>
          <a:prstGeom prst="rect">
            <a:avLst/>
          </a:prstGeom>
          <a:solidFill>
            <a:srgbClr val="5B7FA6">
              <a:alpha val="80000"/>
            </a:srgbClr>
          </a:solidFill>
          <a:ln cap="flat" cmpd="sng" w="12700">
            <a:solidFill>
              <a:srgbClr val="5B7F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g3d6eef6ecfa_0_36"/>
          <p:cNvSpPr/>
          <p:nvPr/>
        </p:nvSpPr>
        <p:spPr>
          <a:xfrm>
            <a:off x="320040" y="3904488"/>
            <a:ext cx="59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g3d6eef6ecfa_0_36"/>
          <p:cNvSpPr/>
          <p:nvPr/>
        </p:nvSpPr>
        <p:spPr>
          <a:xfrm>
            <a:off x="1005840" y="3904488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B4D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B4D1"/>
                </a:solidFill>
                <a:latin typeface="Calibri"/>
                <a:ea typeface="Calibri"/>
                <a:cs typeface="Calibri"/>
                <a:sym typeface="Calibri"/>
              </a:rPr>
              <a:t>Callbacks (EarlyStopping, ReduceLROnPlateau) automate training optimization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g3d6eef6ecfa_0_36"/>
          <p:cNvSpPr/>
          <p:nvPr/>
        </p:nvSpPr>
        <p:spPr>
          <a:xfrm>
            <a:off x="365760" y="466344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Thank You  ·  Questions?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g3d6eef6ecfa_0_36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C2E0"/>
          </a:solidFill>
          <a:ln cap="flat" cmpd="sng" w="12700">
            <a:solidFill>
              <a:srgbClr val="00C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g3d6eef6ecfa_0_36"/>
          <p:cNvSpPr/>
          <p:nvPr/>
        </p:nvSpPr>
        <p:spPr>
          <a:xfrm>
            <a:off x="8686800" y="4846320"/>
            <a:ext cx="365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FA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F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2026-04-17T08:34:50Z</dcterms:created>
  <dc:creator>PptxGenJS</dc:creator>
</cp:coreProperties>
</file>