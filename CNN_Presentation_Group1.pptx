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88">
          <p15:clr>
            <a:srgbClr val="747775"/>
          </p15:clr>
        </p15:guide>
        <p15:guide id="2" pos="5558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upIArThZ36DN8KRYRqkQQC9VY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88" orient="horz"/>
        <p:guide pos="55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6eef6ecf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d6eef6ecf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6eef6ecf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6eef6ecfa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d6eef6ecfa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d6eef6ecfa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80FF">
              <a:alpha val="14901"/>
            </a:srgbClr>
          </a:solidFill>
          <a:ln cap="flat" cmpd="sng" w="12700">
            <a:solidFill>
              <a:srgbClr val="0080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C2E0">
              <a:alpha val="12156"/>
            </a:srgbClr>
          </a:solidFill>
          <a:ln cap="flat" cmpd="sng" w="12700">
            <a:solidFill>
              <a:srgbClr val="00C2E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640080"/>
            <a:ext cx="1005840" cy="2743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65760" y="6400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GROUP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10972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Classification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71907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Using Convolutional Neural Networks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2286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CIFAR-10 Dataset  ·  Deep Learning  ·  Transfer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2788920"/>
            <a:ext cx="3200400" cy="27432"/>
          </a:xfrm>
          <a:prstGeom prst="rect">
            <a:avLst/>
          </a:prstGeom>
          <a:solidFill>
            <a:srgbClr val="00C2E0">
              <a:alpha val="70196"/>
            </a:srgbClr>
          </a:solidFill>
          <a:ln cap="flat" cmpd="sng" w="12700">
            <a:solidFill>
              <a:srgbClr val="00C2E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65760" y="2926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3291840"/>
            <a:ext cx="201168" cy="201168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21792" y="327355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Charleson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286000" y="3291840"/>
            <a:ext cx="201168" cy="201168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2542032" y="327355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206240" y="3291840"/>
            <a:ext cx="201168" cy="201168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462272" y="327355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74320" y="4992624"/>
            <a:ext cx="457200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A1628"/>
                </a:solidFill>
                <a:latin typeface="Calibri"/>
                <a:ea typeface="Calibri"/>
                <a:cs typeface="Calibri"/>
                <a:sym typeface="Calibri"/>
              </a:rPr>
              <a:t>AI Engineering Bootcamp  · 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" y="1234440"/>
            <a:ext cx="4114800" cy="132588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84632" y="13990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97280" y="16459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Build a CNN to classify images from CIFAR-10 into 10 classes with high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09160" y="1234440"/>
            <a:ext cx="4114800" cy="132588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873752" y="13990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0" y="1371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0" y="164592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Progressed from a simple CNN to a deep VGG-style model, then added Transfer Learning with fine tuning.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" y="2788920"/>
            <a:ext cx="4114800" cy="132588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" y="29535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9728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Key Techniques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097280" y="32004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Batch Normalization, Dropout, Data Augmentation, EarlyStopping, Transfer Learning (MobileNetV2), Fi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ne tuning.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09160" y="2788920"/>
            <a:ext cx="4114800" cy="132588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73752" y="295351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48640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Best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0" y="32004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Final model (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Data Augmentation +  </a:t>
            </a: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MobileNetV2 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+ fine Tuning</a:t>
            </a: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) achieved 9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2.29</a:t>
            </a: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% Test Accuracy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CIFAR-10 Dataset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0040" y="1143000"/>
            <a:ext cx="1965960" cy="11887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2004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60,000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181051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Total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468880" y="1143000"/>
            <a:ext cx="1965960" cy="11887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246888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468880" y="181051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617720" y="1143000"/>
            <a:ext cx="1965960" cy="11887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61772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32×32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617720" y="181051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Image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766560" y="1143000"/>
            <a:ext cx="1965960" cy="11887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766560" y="123444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50K/10K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766560" y="1810512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2514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The 10 Classes: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20040" y="283464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20040" y="28346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✈ Airplane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039112" y="283464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2039112" y="28346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🚗 Automobile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758184" y="283464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758184" y="28346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🐦 Bird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77256" y="283464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477256" y="28346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🐱 Cat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196328" y="283464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196328" y="283464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🦌 Deer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0040" y="338328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20040" y="33832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🐶 Dog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039112" y="338328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039112" y="33832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🐸 Frog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758184" y="338328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758184" y="33832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🐴 Horse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477256" y="338328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477256" y="33832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🚢 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196328" y="3383280"/>
            <a:ext cx="1600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196328" y="3383280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🚛 Truck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28600" y="1188720"/>
            <a:ext cx="1508760" cy="2560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228600" y="1188720"/>
            <a:ext cx="1508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228600" y="13258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74320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74320" y="2423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50K 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10K test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755648" y="2423160"/>
            <a:ext cx="182880" cy="73152"/>
          </a:xfrm>
          <a:prstGeom prst="rect">
            <a:avLst/>
          </a:prstGeom>
          <a:solidFill>
            <a:srgbClr val="00C2E0">
              <a:alpha val="70196"/>
            </a:srgbClr>
          </a:solidFill>
          <a:ln cap="flat" cmpd="sng" w="12700">
            <a:solidFill>
              <a:srgbClr val="00C2E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965960" y="1188720"/>
            <a:ext cx="1508760" cy="2560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965960" y="1188720"/>
            <a:ext cx="1508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965960" y="13258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011680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011680" y="2423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Pixels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÷255 → [0,1]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493008" y="2423160"/>
            <a:ext cx="182880" cy="73152"/>
          </a:xfrm>
          <a:prstGeom prst="rect">
            <a:avLst/>
          </a:prstGeom>
          <a:solidFill>
            <a:srgbClr val="00C2E0">
              <a:alpha val="70196"/>
            </a:srgbClr>
          </a:solidFill>
          <a:ln cap="flat" cmpd="sng" w="12700">
            <a:solidFill>
              <a:srgbClr val="00C2E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703320" y="1188720"/>
            <a:ext cx="1508760" cy="2560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703320" y="1188720"/>
            <a:ext cx="1508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703320" y="13258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749040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One-Hot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749040" y="2423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3 → [0,0,0,1,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0,0,0,0,0,0]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230368" y="2423160"/>
            <a:ext cx="182880" cy="73152"/>
          </a:xfrm>
          <a:prstGeom prst="rect">
            <a:avLst/>
          </a:prstGeom>
          <a:solidFill>
            <a:srgbClr val="00C2E0">
              <a:alpha val="70196"/>
            </a:srgbClr>
          </a:solidFill>
          <a:ln cap="flat" cmpd="sng" w="12700">
            <a:solidFill>
              <a:srgbClr val="00C2E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440680" y="1188720"/>
            <a:ext cx="1508760" cy="2560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40680" y="1188720"/>
            <a:ext cx="1508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440680" y="13258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486400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Train/Val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486400" y="2423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90% train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10% val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967728" y="2423160"/>
            <a:ext cx="182880" cy="73152"/>
          </a:xfrm>
          <a:prstGeom prst="rect">
            <a:avLst/>
          </a:prstGeom>
          <a:solidFill>
            <a:srgbClr val="00C2E0">
              <a:alpha val="70196"/>
            </a:srgbClr>
          </a:solidFill>
          <a:ln cap="flat" cmpd="sng" w="12700">
            <a:solidFill>
              <a:srgbClr val="00C2E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7178040" y="1188720"/>
            <a:ext cx="1508760" cy="2560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7178040" y="1188720"/>
            <a:ext cx="1508760" cy="73152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178040" y="132588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223760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7223760" y="2423160"/>
            <a:ext cx="1417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Flip, Rotate,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Zoom, Shift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20040" y="3977640"/>
            <a:ext cx="8503920" cy="548640"/>
          </a:xfrm>
          <a:prstGeom prst="rect">
            <a:avLst/>
          </a:prstGeom>
          <a:solidFill>
            <a:srgbClr val="0080FF">
              <a:alpha val="14901"/>
            </a:srgbClr>
          </a:solidFill>
          <a:ln cap="flat" cmpd="sng" w="12700">
            <a:solidFill>
              <a:srgbClr val="0080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57200" y="4005072"/>
            <a:ext cx="8321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💡  Data Augmentation applies random rotations, horizontal flips, shifts and zoom to artificially increase training diversity — reducing overfitting.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Progression — Key Milestones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10 models built in total — showing the 4 most significant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01168" y="1188720"/>
            <a:ext cx="2011800" cy="3383400"/>
          </a:xfrm>
          <a:prstGeom prst="rect">
            <a:avLst/>
          </a:prstGeom>
          <a:solidFill>
            <a:srgbClr val="152B4E"/>
          </a:solidFill>
          <a:ln cap="flat" cmpd="sng" w="25400">
            <a:solidFill>
              <a:srgbClr val="FF6B6B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01168" y="1188720"/>
            <a:ext cx="2011680" cy="914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274320" y="1316736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4320" y="16002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21208" y="1874520"/>
            <a:ext cx="1371600" cy="347472"/>
          </a:xfrm>
          <a:prstGeom prst="rect">
            <a:avLst/>
          </a:prstGeom>
          <a:solidFill>
            <a:srgbClr val="FF6B6B">
              <a:alpha val="8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21208" y="18745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73.56%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38328" y="2377440"/>
            <a:ext cx="91440" cy="9144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78867" y="2281229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3 Conv layers, No BN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38328" y="2852928"/>
            <a:ext cx="91440" cy="9144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78867" y="2756717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No Dropout, No Aug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38328" y="3328416"/>
            <a:ext cx="91440" cy="9144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78867" y="3232205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Adam · LR=0.001 · 10 epochs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38328" y="3803904"/>
            <a:ext cx="91440" cy="9144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78867" y="3707693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Overfitting: Train 85% vs Test 73%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231136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414016" y="1188720"/>
            <a:ext cx="2011680" cy="3383280"/>
          </a:xfrm>
          <a:prstGeom prst="rect">
            <a:avLst/>
          </a:prstGeom>
          <a:solidFill>
            <a:srgbClr val="152B4E"/>
          </a:solidFill>
          <a:ln cap="flat" cmpd="sng" w="25400">
            <a:solidFill>
              <a:srgbClr val="FF9F43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414016" y="1188720"/>
            <a:ext cx="2011680" cy="91440"/>
          </a:xfrm>
          <a:prstGeom prst="rect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2487168" y="1316736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487168" y="1600200"/>
            <a:ext cx="187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+ Dropout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734056" y="1874520"/>
            <a:ext cx="1371600" cy="347472"/>
          </a:xfrm>
          <a:prstGeom prst="rect">
            <a:avLst/>
          </a:prstGeom>
          <a:solidFill>
            <a:srgbClr val="FF9F43">
              <a:alpha val="80000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734056" y="18745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78.45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551176" y="2377440"/>
            <a:ext cx="91440" cy="91440"/>
          </a:xfrm>
          <a:prstGeom prst="ellipse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691715" y="2281229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Added Dropout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2551176" y="2852928"/>
            <a:ext cx="91440" cy="91440"/>
          </a:xfrm>
          <a:prstGeom prst="ellipse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691715" y="2756717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Bach size </a:t>
            </a: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raised to </a:t>
            </a:r>
            <a:r>
              <a:rPr lang="en-US" sz="9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551176" y="3328416"/>
            <a:ext cx="91440" cy="91440"/>
          </a:xfrm>
          <a:prstGeom prst="ellipse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2691715" y="3232205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Train≈Val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551176" y="3803904"/>
            <a:ext cx="91440" cy="91440"/>
          </a:xfrm>
          <a:prstGeom prst="ellipse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2691715" y="3707693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Overfitting reduced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443984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626864" y="1188720"/>
            <a:ext cx="2011680" cy="3383280"/>
          </a:xfrm>
          <a:prstGeom prst="rect">
            <a:avLst/>
          </a:prstGeom>
          <a:solidFill>
            <a:srgbClr val="152B4E"/>
          </a:solidFill>
          <a:ln cap="flat" cmpd="sng" w="25400">
            <a:solidFill>
              <a:srgbClr val="0080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4626864" y="1188720"/>
            <a:ext cx="2011680" cy="9144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700016" y="1316736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700016" y="16002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+ BN + Aug + L2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946904" y="1874520"/>
            <a:ext cx="1371600" cy="347472"/>
          </a:xfrm>
          <a:prstGeom prst="rect">
            <a:avLst/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4946904" y="18745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85.5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764024" y="2377440"/>
            <a:ext cx="91440" cy="9144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904563" y="2281229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BatchNorm + Dropout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764024" y="2852928"/>
            <a:ext cx="91440" cy="9144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904563" y="2756717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764024" y="3328416"/>
            <a:ext cx="91440" cy="9144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4904563" y="3232205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L2 Regularizer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764024" y="3803904"/>
            <a:ext cx="91440" cy="91440"/>
          </a:xfrm>
          <a:prstGeom prst="ellipse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904563" y="3707693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LR Scheduler · 50 epochs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656832" y="256032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839712" y="1188720"/>
            <a:ext cx="2011680" cy="3383280"/>
          </a:xfrm>
          <a:prstGeom prst="rect">
            <a:avLst/>
          </a:prstGeom>
          <a:solidFill>
            <a:srgbClr val="152B4E"/>
          </a:solidFill>
          <a:ln cap="flat" cmpd="sng" w="25400">
            <a:solidFill>
              <a:srgbClr val="00C2E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839712" y="1188720"/>
            <a:ext cx="2011680" cy="9144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912864" y="1316736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912864" y="160020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Transfer Learning </a:t>
            </a:r>
            <a:r>
              <a:rPr i="1" lang="en-US" sz="950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i="1" sz="950">
              <a:solidFill>
                <a:srgbClr val="00C2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 Data Augmentation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159752" y="1874520"/>
            <a:ext cx="1371600" cy="347472"/>
          </a:xfrm>
          <a:prstGeom prst="rect">
            <a:avLst/>
          </a:prstGeom>
          <a:solidFill>
            <a:srgbClr val="00C2E0">
              <a:alpha val="8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7159752" y="18745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90.21%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976872" y="2377440"/>
            <a:ext cx="91440" cy="9144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7117411" y="2281229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MobileNetV2 pretrained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976872" y="2852928"/>
            <a:ext cx="91440" cy="9144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7117411" y="2756717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Global Avg Pooling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976872" y="3328416"/>
            <a:ext cx="91440" cy="9144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7117411" y="3232205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2-Phase Fine-Tuning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976872" y="3803904"/>
            <a:ext cx="91440" cy="9144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7117411" y="3707693"/>
            <a:ext cx="166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LR Scheduler + EarlyStopping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Optimization Techniques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20040" y="1188720"/>
            <a:ext cx="2651760" cy="1417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20040" y="1188720"/>
            <a:ext cx="64008" cy="141732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57200" y="1298448"/>
            <a:ext cx="502920" cy="347472"/>
          </a:xfrm>
          <a:prstGeom prst="rect">
            <a:avLst/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57200" y="129844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57200" y="17007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Adam Optimizer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57200" y="19933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LR = 0.00000</a:t>
            </a:r>
            <a:r>
              <a:rPr lang="en-US" sz="9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. Adapts learning rate per parameter — faster and more stable than SGD.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200400" y="1188720"/>
            <a:ext cx="2651760" cy="1417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3200400" y="1188720"/>
            <a:ext cx="64008" cy="14173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3337560" y="1298448"/>
            <a:ext cx="502920" cy="347472"/>
          </a:xfrm>
          <a:prstGeom prst="rect">
            <a:avLst/>
          </a:prstGeom>
          <a:solidFill>
            <a:srgbClr val="00C2E0">
              <a:alpha val="8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337560" y="129844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337560" y="17007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Batch Normalization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337560" y="19933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Normalizes layer outputs. Stabilizes training, allows higher learning rates.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080760" y="1188720"/>
            <a:ext cx="2651760" cy="1417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080760" y="1188720"/>
            <a:ext cx="64008" cy="1417320"/>
          </a:xfrm>
          <a:prstGeom prst="rect">
            <a:avLst/>
          </a:prstGeom>
          <a:solidFill>
            <a:srgbClr val="FF9F43"/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217920" y="1298448"/>
            <a:ext cx="502920" cy="347472"/>
          </a:xfrm>
          <a:prstGeom prst="rect">
            <a:avLst/>
          </a:prstGeom>
          <a:solidFill>
            <a:srgbClr val="FF9F43">
              <a:alpha val="80000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6217920" y="129844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217920" y="17007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43"/>
                </a:solidFill>
                <a:latin typeface="Calibri"/>
                <a:ea typeface="Calibri"/>
                <a:cs typeface="Calibri"/>
                <a:sym typeface="Calibri"/>
              </a:rPr>
              <a:t>Dropout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217920" y="19933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25% after each block, 50% before output. Randomly disables neurons to prevent overfitting.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20040" y="2788920"/>
            <a:ext cx="2651760" cy="141732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20040" y="2788920"/>
            <a:ext cx="64008" cy="1417320"/>
          </a:xfrm>
          <a:prstGeom prst="rect">
            <a:avLst/>
          </a:prstGeom>
          <a:solidFill>
            <a:srgbClr val="00D48A"/>
          </a:solidFill>
          <a:ln cap="flat" cmpd="sng" w="12700">
            <a:solidFill>
              <a:srgbClr val="00D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57200" y="2898648"/>
            <a:ext cx="502920" cy="347472"/>
          </a:xfrm>
          <a:prstGeom prst="rect">
            <a:avLst/>
          </a:prstGeom>
          <a:solidFill>
            <a:srgbClr val="00D48A">
              <a:alpha val="80000"/>
            </a:srgbClr>
          </a:solidFill>
          <a:ln cap="flat" cmpd="sng" w="12700">
            <a:solidFill>
              <a:srgbClr val="00D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57200" y="2898648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57200" y="33009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8A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57200" y="3593592"/>
            <a:ext cx="2423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Rotation, flip, shift, zoom. Creates image variations each epoch for better generalization.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080750" y="2788920"/>
            <a:ext cx="2651700" cy="14172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6080750" y="2788920"/>
            <a:ext cx="63900" cy="141720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217910" y="2898648"/>
            <a:ext cx="502800" cy="347400"/>
          </a:xfrm>
          <a:prstGeom prst="rect">
            <a:avLst/>
          </a:prstGeom>
          <a:solidFill>
            <a:srgbClr val="FF6B6B">
              <a:alpha val="8000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217910" y="2898648"/>
            <a:ext cx="50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217910" y="3300984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EarlyStopping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217900" y="3593600"/>
            <a:ext cx="242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Patience = 15 epochs. Stops training when val_loss stops improving, restores best weights.</a:t>
            </a:r>
            <a:endParaRPr b="0" i="0" sz="900" u="none" cap="none" strike="noStrike">
              <a:solidFill>
                <a:srgbClr val="94B4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94B4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200435" y="2788920"/>
            <a:ext cx="2651700" cy="14172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200435" y="2788920"/>
            <a:ext cx="63900" cy="1417200"/>
          </a:xfrm>
          <a:prstGeom prst="rect">
            <a:avLst/>
          </a:prstGeom>
          <a:solidFill>
            <a:srgbClr val="5B7FA6"/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337595" y="2898648"/>
            <a:ext cx="502800" cy="347400"/>
          </a:xfrm>
          <a:prstGeom prst="rect">
            <a:avLst/>
          </a:prstGeom>
          <a:solidFill>
            <a:srgbClr val="5B7FA6">
              <a:alpha val="80000"/>
            </a:srgbClr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337595" y="2898648"/>
            <a:ext cx="50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337595" y="3300984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ReduceLROnPlateau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337595" y="3593592"/>
            <a:ext cx="242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Patience = 7 epochs. Halves learning rate when model is stuck near the optimum.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53310" y="502895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CNN Architecture — Model 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164592" y="1234440"/>
            <a:ext cx="868680" cy="2560320"/>
          </a:xfrm>
          <a:prstGeom prst="rect">
            <a:avLst/>
          </a:prstGeom>
          <a:solidFill>
            <a:srgbClr val="5B7FA6">
              <a:alpha val="25098"/>
            </a:srgbClr>
          </a:solidFill>
          <a:ln cap="flat" cmpd="sng" w="25400">
            <a:solidFill>
              <a:srgbClr val="5B7FA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164592" y="1325880"/>
            <a:ext cx="868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×3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1051560" y="22402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1234440" y="1234440"/>
            <a:ext cx="1554480" cy="2560320"/>
          </a:xfrm>
          <a:prstGeom prst="rect">
            <a:avLst/>
          </a:prstGeom>
          <a:solidFill>
            <a:srgbClr val="0080FF">
              <a:alpha val="25098"/>
            </a:srgbClr>
          </a:solidFill>
          <a:ln cap="flat" cmpd="sng" w="25400">
            <a:solidFill>
              <a:srgbClr val="0080FF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6"/>
          <p:cNvSpPr/>
          <p:nvPr/>
        </p:nvSpPr>
        <p:spPr>
          <a:xfrm>
            <a:off x="1234440" y="1325880"/>
            <a:ext cx="1554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(ImageNet)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7381038" y="2251155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632643" y="1245390"/>
            <a:ext cx="1234500" cy="2560200"/>
          </a:xfrm>
          <a:prstGeom prst="rect">
            <a:avLst/>
          </a:prstGeom>
          <a:solidFill>
            <a:srgbClr val="FF9F43">
              <a:alpha val="25098"/>
            </a:srgbClr>
          </a:solidFill>
          <a:ln cap="flat" cmpd="sng" w="25400">
            <a:solidFill>
              <a:srgbClr val="FF9F43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7381050" y="1291000"/>
            <a:ext cx="16002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Fine-Tune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unfreeze last 60 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2738246" y="2253703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2959964" y="1245311"/>
            <a:ext cx="1005900" cy="2560200"/>
          </a:xfrm>
          <a:prstGeom prst="rect">
            <a:avLst/>
          </a:prstGeom>
          <a:solidFill>
            <a:srgbClr val="5B7FA6">
              <a:alpha val="25098"/>
            </a:srgbClr>
          </a:solidFill>
          <a:ln cap="flat" cmpd="sng" w="25400">
            <a:solidFill>
              <a:srgbClr val="5B7FA6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2990090" y="1325851"/>
            <a:ext cx="10059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Avg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Pooling 2D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984092" y="2251151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166972" y="1245311"/>
            <a:ext cx="960000" cy="2560200"/>
          </a:xfrm>
          <a:prstGeom prst="rect">
            <a:avLst/>
          </a:prstGeom>
          <a:solidFill>
            <a:srgbClr val="00C2E0">
              <a:alpha val="25098"/>
            </a:srgbClr>
          </a:solidFill>
          <a:ln cap="flat" cmpd="sng" w="25400">
            <a:solidFill>
              <a:srgbClr val="00C2E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4166972" y="1336751"/>
            <a:ext cx="960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Normalization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5145380" y="2251151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5328260" y="1245311"/>
            <a:ext cx="960000" cy="2560200"/>
          </a:xfrm>
          <a:prstGeom prst="rect">
            <a:avLst/>
          </a:prstGeom>
          <a:solidFill>
            <a:srgbClr val="00C2E0">
              <a:alpha val="25098"/>
            </a:srgbClr>
          </a:solidFill>
          <a:ln cap="flat" cmpd="sng" w="25400">
            <a:solidFill>
              <a:srgbClr val="00C2E0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5328260" y="1336751"/>
            <a:ext cx="960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Dense(256)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Drop(0.</a:t>
            </a: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6306668" y="2251151"/>
            <a:ext cx="18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6489548" y="1245311"/>
            <a:ext cx="822900" cy="2560200"/>
          </a:xfrm>
          <a:prstGeom prst="rect">
            <a:avLst/>
          </a:prstGeom>
          <a:solidFill>
            <a:srgbClr val="00D48A">
              <a:alpha val="25098"/>
            </a:srgbClr>
          </a:solidFill>
          <a:ln cap="flat" cmpd="sng" w="25400">
            <a:solidFill>
              <a:srgbClr val="00D48A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6"/>
          <p:cNvSpPr/>
          <p:nvPr/>
        </p:nvSpPr>
        <p:spPr>
          <a:xfrm>
            <a:off x="6489548" y="1336751"/>
            <a:ext cx="8229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1069848" y="3931920"/>
            <a:ext cx="1600200" cy="201168"/>
          </a:xfrm>
          <a:prstGeom prst="rect">
            <a:avLst/>
          </a:prstGeom>
          <a:solidFill>
            <a:srgbClr val="0080FF">
              <a:alpha val="25098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1069848" y="393192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— LR=</a:t>
            </a: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1e-3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834640" y="3931920"/>
            <a:ext cx="1280160" cy="201168"/>
          </a:xfrm>
          <a:prstGeom prst="rect">
            <a:avLst/>
          </a:prstGeom>
          <a:solidFill>
            <a:srgbClr val="FF9F43">
              <a:alpha val="25098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2834640" y="39319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— LR=</a:t>
            </a: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1e-3 - 1e-6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320040" y="4251960"/>
            <a:ext cx="2651760" cy="4572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320040" y="42519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Pre-trained on ImageNet  ·  1.2M images — knows edges, shapes, textures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3200400" y="4251960"/>
            <a:ext cx="2651760" cy="4572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6"/>
          <p:cNvSpPr/>
          <p:nvPr/>
        </p:nvSpPr>
        <p:spPr>
          <a:xfrm>
            <a:off x="3200400" y="42519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include_top=False  ·  Remove original classifier, add our 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6080760" y="4251960"/>
            <a:ext cx="2651760" cy="4572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6080760" y="42519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Resize to </a:t>
            </a:r>
            <a:r>
              <a:rPr lang="en-US" sz="9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96x96</a:t>
            </a:r>
            <a:r>
              <a:rPr b="0" i="0" lang="en-US" sz="9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  ·  CIFAR-10 is 32×32 — too small for MobileNetV2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65750" y="45720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43550" y="1234450"/>
            <a:ext cx="8680500" cy="34746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457200" y="12344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Why MobileNetV2?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75488" y="1691640"/>
            <a:ext cx="137160" cy="13716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685800" y="165506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Pre-trained on 1.2M ImageNet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75488" y="2194560"/>
            <a:ext cx="137160" cy="13716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685800" y="215798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Already knows edges, textures &amp; shapes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75488" y="2697480"/>
            <a:ext cx="137160" cy="13716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685800" y="266090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Lightweight and efficient on GPU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75488" y="3200400"/>
            <a:ext cx="137160" cy="13716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685800" y="316382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include_top=False → custom classifier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75488" y="3703320"/>
            <a:ext cx="137160" cy="137160"/>
          </a:xfrm>
          <a:prstGeom prst="ellipse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685800" y="3666744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Input resized to 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r>
              <a:rPr b="0" i="0" lang="en-US" sz="11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r>
              <a:rPr lang="en-US" sz="11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6eef6ecfa_0_2"/>
          <p:cNvSpPr/>
          <p:nvPr/>
        </p:nvSpPr>
        <p:spPr>
          <a:xfrm>
            <a:off x="365760" y="201168"/>
            <a:ext cx="1280100" cy="255900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6eef6ecfa_0_2"/>
          <p:cNvSpPr/>
          <p:nvPr/>
        </p:nvSpPr>
        <p:spPr>
          <a:xfrm>
            <a:off x="365760" y="201168"/>
            <a:ext cx="128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d6eef6ecfa_0_2"/>
          <p:cNvSpPr/>
          <p:nvPr/>
        </p:nvSpPr>
        <p:spPr>
          <a:xfrm>
            <a:off x="365750" y="45720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MobileNetV2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with Data 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ugmentation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d6eef6ecfa_0_2"/>
          <p:cNvSpPr/>
          <p:nvPr/>
        </p:nvSpPr>
        <p:spPr>
          <a:xfrm>
            <a:off x="320040" y="1234450"/>
            <a:ext cx="3931800" cy="34746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6eef6ecfa_0_2"/>
          <p:cNvSpPr/>
          <p:nvPr/>
        </p:nvSpPr>
        <p:spPr>
          <a:xfrm>
            <a:off x="320050" y="1234453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d6eef6ecfa_0_2"/>
          <p:cNvSpPr/>
          <p:nvPr/>
        </p:nvSpPr>
        <p:spPr>
          <a:xfrm>
            <a:off x="320045" y="180146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Phase 1 — Train Classifier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6eef6ecfa_0_2"/>
          <p:cNvSpPr/>
          <p:nvPr/>
        </p:nvSpPr>
        <p:spPr>
          <a:xfrm>
            <a:off x="320045" y="2121505"/>
            <a:ext cx="402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Base model frozen · LR = 0.001 · 2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 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Only Dense layers updated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6eef6ecfa_0_2"/>
          <p:cNvSpPr/>
          <p:nvPr/>
        </p:nvSpPr>
        <p:spPr>
          <a:xfrm>
            <a:off x="4480550" y="1234450"/>
            <a:ext cx="4343400" cy="33834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d6eef6ecfa_0_2"/>
          <p:cNvSpPr/>
          <p:nvPr/>
        </p:nvSpPr>
        <p:spPr>
          <a:xfrm>
            <a:off x="320045" y="292623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Phase 2 — Fine-Tuning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d6eef6ecfa_0_2"/>
          <p:cNvSpPr/>
          <p:nvPr/>
        </p:nvSpPr>
        <p:spPr>
          <a:xfrm>
            <a:off x="320050" y="3374277"/>
            <a:ext cx="4023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Last 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0 layers unfrozen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LR = 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1e-3 - 1e-6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0 epochs · Callbacks active (ES &amp; LR)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6eef6ecfa_0_2"/>
          <p:cNvSpPr/>
          <p:nvPr/>
        </p:nvSpPr>
        <p:spPr>
          <a:xfrm>
            <a:off x="4480560" y="4617720"/>
            <a:ext cx="4343400" cy="274200"/>
          </a:xfrm>
          <a:prstGeom prst="rect">
            <a:avLst/>
          </a:prstGeom>
          <a:solidFill>
            <a:srgbClr val="00C2E0">
              <a:alpha val="2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6eef6ecfa_0_2"/>
          <p:cNvSpPr/>
          <p:nvPr/>
        </p:nvSpPr>
        <p:spPr>
          <a:xfrm>
            <a:off x="4480560" y="4617720"/>
            <a:ext cx="434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Result: ~90%+ Test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d6eef6ecfa_0_2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6eef6ecfa_0_2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6eef6ecfa_0_2"/>
          <p:cNvSpPr/>
          <p:nvPr/>
        </p:nvSpPr>
        <p:spPr>
          <a:xfrm>
            <a:off x="4480550" y="12344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6eef6ecfa_0_2"/>
          <p:cNvSpPr/>
          <p:nvPr/>
        </p:nvSpPr>
        <p:spPr>
          <a:xfrm>
            <a:off x="4480545" y="172666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Horizontal flip = True</a:t>
            </a:r>
            <a:endParaRPr b="1" sz="1300">
              <a:solidFill>
                <a:srgbClr val="008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6eef6ecfa_0_2"/>
          <p:cNvSpPr/>
          <p:nvPr/>
        </p:nvSpPr>
        <p:spPr>
          <a:xfrm>
            <a:off x="4480545" y="24346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Width &amp; Height Shift = 0.1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6eef6ecfa_0_2"/>
          <p:cNvSpPr/>
          <p:nvPr/>
        </p:nvSpPr>
        <p:spPr>
          <a:xfrm>
            <a:off x="4522345" y="3055815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Rotation range = 15</a:t>
            </a:r>
            <a:endParaRPr b="1" sz="1300">
              <a:solidFill>
                <a:srgbClr val="008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d6eef6ecfa_0_2"/>
          <p:cNvSpPr/>
          <p:nvPr/>
        </p:nvSpPr>
        <p:spPr>
          <a:xfrm>
            <a:off x="4522345" y="367699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Zoom range = 0.1</a:t>
            </a:r>
            <a:endParaRPr b="1" sz="1300">
              <a:solidFill>
                <a:srgbClr val="008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d6eef6ecfa_0_2"/>
          <p:cNvSpPr/>
          <p:nvPr/>
        </p:nvSpPr>
        <p:spPr>
          <a:xfrm>
            <a:off x="4526300" y="2000875"/>
            <a:ext cx="3931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Flip 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entire image left/right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6eef6ecfa_0_2"/>
          <p:cNvSpPr/>
          <p:nvPr/>
        </p:nvSpPr>
        <p:spPr>
          <a:xfrm>
            <a:off x="4480550" y="2700800"/>
            <a:ext cx="3931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Shifts image 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horizontally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 &amp; vertically up to 10%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d6eef6ecfa_0_2"/>
          <p:cNvSpPr/>
          <p:nvPr/>
        </p:nvSpPr>
        <p:spPr>
          <a:xfrm>
            <a:off x="4526300" y="3309300"/>
            <a:ext cx="3931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Rotates image up to 15º</a:t>
            </a:r>
            <a:endParaRPr sz="1050">
              <a:solidFill>
                <a:srgbClr val="94B4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d6eef6ecfa_0_2"/>
          <p:cNvSpPr/>
          <p:nvPr/>
        </p:nvSpPr>
        <p:spPr>
          <a:xfrm>
            <a:off x="4480550" y="3963513"/>
            <a:ext cx="39318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Zooms in/out affecting both width and height simultaneously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04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9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 &amp;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20040" y="1188720"/>
            <a:ext cx="2194560" cy="36576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320040" y="1188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2560320" y="1188720"/>
            <a:ext cx="2743200" cy="36576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2560320" y="11887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349240" y="1188720"/>
            <a:ext cx="1645920" cy="36576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5349240" y="11887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7040880" y="1188720"/>
            <a:ext cx="1463040" cy="365760"/>
          </a:xfrm>
          <a:prstGeom prst="rect">
            <a:avLst/>
          </a:prstGeom>
          <a:solidFill>
            <a:srgbClr val="0080FF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7040880" y="11887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20040" y="1600200"/>
            <a:ext cx="219456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320040" y="160020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Model 1 —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2560320" y="1600200"/>
            <a:ext cx="2743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2560320" y="16002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No regularization · Adam · 10 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349240" y="1600200"/>
            <a:ext cx="164592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5349240" y="16002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73.56%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7040880" y="1600200"/>
            <a:ext cx="146304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7040880" y="16002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Severe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320040" y="2011680"/>
            <a:ext cx="219456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320040" y="20116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Model 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 — + Dropout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2560320" y="2011680"/>
            <a:ext cx="2743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2560320" y="20116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Dropout ·B</a:t>
            </a:r>
            <a:r>
              <a:rPr lang="en-US" sz="105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atch Size (128)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5349240" y="2011680"/>
            <a:ext cx="164592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5349240" y="201168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77.87%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7040880" y="2011680"/>
            <a:ext cx="146304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7040880" y="20116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20040" y="2423160"/>
            <a:ext cx="219456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320040" y="242316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Model 10 — + BN + Aug + L2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560320" y="2423160"/>
            <a:ext cx="274320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2560320" y="24231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BatchNorm · Data Aug · L2 · LR Scheduler · 50 ep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5349240" y="2423160"/>
            <a:ext cx="164592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5349240" y="24231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85.</a:t>
            </a:r>
            <a:r>
              <a:rPr b="1" lang="en-US" sz="12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r>
              <a:rPr b="1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7040880" y="2423160"/>
            <a:ext cx="1463040" cy="384048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7040880" y="24231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320040" y="2834640"/>
            <a:ext cx="2194560" cy="384048"/>
          </a:xfrm>
          <a:prstGeom prst="rect">
            <a:avLst/>
          </a:prstGeom>
          <a:solidFill>
            <a:srgbClr val="00C2E0">
              <a:alpha val="14901"/>
            </a:srgbClr>
          </a:solidFill>
          <a:ln cap="flat" cmpd="sng" w="12700">
            <a:solidFill>
              <a:srgbClr val="00C2E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320040" y="28346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8 — T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 + Aug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(FINAL)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2560320" y="2834640"/>
            <a:ext cx="2743200" cy="384048"/>
          </a:xfrm>
          <a:prstGeom prst="rect">
            <a:avLst/>
          </a:prstGeom>
          <a:solidFill>
            <a:srgbClr val="00C2E0">
              <a:alpha val="14901"/>
            </a:srgbClr>
          </a:solidFill>
          <a:ln cap="flat" cmpd="sng" w="12700">
            <a:solidFill>
              <a:srgbClr val="00C2E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2560320" y="28346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MobileNetV2 ·</a:t>
            </a: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Fine-Tuning · LR Scheduler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5349240" y="2834640"/>
            <a:ext cx="1645920" cy="384048"/>
          </a:xfrm>
          <a:prstGeom prst="rect">
            <a:avLst/>
          </a:prstGeom>
          <a:solidFill>
            <a:srgbClr val="00C2E0">
              <a:alpha val="14901"/>
            </a:srgbClr>
          </a:solidFill>
          <a:ln cap="flat" cmpd="sng" w="12700">
            <a:solidFill>
              <a:srgbClr val="00C2E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5349240" y="283464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90.21%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7040880" y="2834640"/>
            <a:ext cx="1463040" cy="384048"/>
          </a:xfrm>
          <a:prstGeom prst="rect">
            <a:avLst/>
          </a:prstGeom>
          <a:solidFill>
            <a:srgbClr val="00C2E0">
              <a:alpha val="14901"/>
            </a:srgbClr>
          </a:solidFill>
          <a:ln cap="flat" cmpd="sng" w="12700">
            <a:solidFill>
              <a:srgbClr val="00C2E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7040880" y="28346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57200" y="4187952"/>
            <a:ext cx="82296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📊  Evaluation metrics include: Confusion Matrix · Precision · Recall · F1-Score per class · Misclassified image 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2040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"/>
          <p:cNvSpPr/>
          <p:nvPr/>
        </p:nvSpPr>
        <p:spPr>
          <a:xfrm>
            <a:off x="365760" y="201168"/>
            <a:ext cx="1280160" cy="256032"/>
          </a:xfrm>
          <a:prstGeom prst="roundRect">
            <a:avLst>
              <a:gd fmla="val 17857" name="adj"/>
            </a:avLst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365760" y="2011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320040" y="1188720"/>
            <a:ext cx="1965960" cy="32004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0"/>
          <p:cNvSpPr/>
          <p:nvPr/>
        </p:nvSpPr>
        <p:spPr>
          <a:xfrm>
            <a:off x="411480" y="126187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41148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11480" y="21945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11480" y="2578608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Saved as .keras format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to Google Drive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model.save(path)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2468880" y="1188720"/>
            <a:ext cx="1965960" cy="32004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2560320" y="126187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256032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560320" y="21945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2560320" y="2578608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Reloaded in any session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without retraining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load_model(path)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617720" y="1188720"/>
            <a:ext cx="1965960" cy="32004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709160" y="126187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70916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4709160" y="21945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4709160" y="2578608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Resize → Normalize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Expand dims → Predict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np.argmax(probs)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6766560" y="1188720"/>
            <a:ext cx="1965960" cy="32004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6858000" y="1261872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85800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6858000" y="21945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6858000" y="2578608"/>
            <a:ext cx="1783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Upload any photo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Top-3 predictions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Live demo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solidFill>
            <a:srgbClr val="00D48A">
              <a:alpha val="18039"/>
            </a:srgbClr>
          </a:solidFill>
          <a:ln cap="flat" cmpd="sng" w="12700">
            <a:solidFill>
              <a:srgbClr val="00D48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8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D48A"/>
                </a:solidFill>
                <a:latin typeface="Calibri"/>
                <a:ea typeface="Calibri"/>
                <a:cs typeface="Calibri"/>
                <a:sym typeface="Calibri"/>
              </a:rPr>
              <a:t>🎬  Live Demo Available — predict any uploaded image in real-time using the trained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/>
          <p:nvPr/>
        </p:nvSpPr>
        <p:spPr>
          <a:xfrm>
            <a:off x="-649875" y="2777488"/>
            <a:ext cx="4572000" cy="4572000"/>
          </a:xfrm>
          <a:prstGeom prst="ellipse">
            <a:avLst/>
          </a:prstGeom>
          <a:solidFill>
            <a:srgbClr val="0080FF">
              <a:alpha val="10196"/>
            </a:srgbClr>
          </a:solidFill>
          <a:ln cap="flat" cmpd="sng" w="12700">
            <a:solidFill>
              <a:srgbClr val="0080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C2E0">
              <a:alpha val="10196"/>
            </a:srgbClr>
          </a:solidFill>
          <a:ln cap="flat" cmpd="sng" w="12700">
            <a:solidFill>
              <a:srgbClr val="00C2E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320040" y="1051560"/>
            <a:ext cx="8503920" cy="59436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80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320040" y="1051560"/>
            <a:ext cx="594360" cy="594360"/>
          </a:xfrm>
          <a:prstGeom prst="rect">
            <a:avLst/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"/>
          <p:cNvSpPr/>
          <p:nvPr/>
        </p:nvSpPr>
        <p:spPr>
          <a:xfrm>
            <a:off x="320040" y="10515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1005840" y="105156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Problems</a:t>
            </a:r>
            <a:r>
              <a:rPr lang="en-US" sz="12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 with the RAM and GPU when running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320040" y="1764792"/>
            <a:ext cx="8503920" cy="59436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320040" y="1764792"/>
            <a:ext cx="594360" cy="594360"/>
          </a:xfrm>
          <a:prstGeom prst="rect">
            <a:avLst/>
          </a:prstGeom>
          <a:solidFill>
            <a:srgbClr val="00C2E0">
              <a:alpha val="8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320040" y="176479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1005840" y="1764792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choosing the right hyperparameters, without the model overfiting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20040" y="2560319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FF9F4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320065" y="2560331"/>
            <a:ext cx="594300" cy="594300"/>
          </a:xfrm>
          <a:prstGeom prst="rect">
            <a:avLst/>
          </a:prstGeom>
          <a:solidFill>
            <a:srgbClr val="FF9F43">
              <a:alpha val="80000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320065" y="2560331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1005840" y="2560319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Google Colab (RAM) does not support image &gt; 96x96. Resizing: Transfer Learning.</a:t>
            </a:r>
            <a:endParaRPr b="0" i="0" sz="1200" u="none" cap="none" strike="noStrike">
              <a:solidFill>
                <a:srgbClr val="94B4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6eef6ecfa_0_36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080FF">
              <a:alpha val="10200"/>
            </a:srgbClr>
          </a:solidFill>
          <a:ln cap="flat" cmpd="sng" w="12700">
            <a:solidFill>
              <a:srgbClr val="0080FF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d6eef6ecfa_0_36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C2E0">
              <a:alpha val="10200"/>
            </a:srgbClr>
          </a:solidFill>
          <a:ln cap="flat" cmpd="sng" w="12700">
            <a:solidFill>
              <a:srgbClr val="00C2E0">
                <a:alpha val="1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d6eef6ecfa_0_36"/>
          <p:cNvSpPr/>
          <p:nvPr/>
        </p:nvSpPr>
        <p:spPr>
          <a:xfrm>
            <a:off x="365760" y="36576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Recap &amp; Key Learnings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d6eef6ecfa_0_36"/>
          <p:cNvSpPr/>
          <p:nvPr/>
        </p:nvSpPr>
        <p:spPr>
          <a:xfrm>
            <a:off x="320040" y="1051560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80FF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d6eef6ecfa_0_36"/>
          <p:cNvSpPr/>
          <p:nvPr/>
        </p:nvSpPr>
        <p:spPr>
          <a:xfrm>
            <a:off x="320040" y="1051560"/>
            <a:ext cx="594300" cy="594300"/>
          </a:xfrm>
          <a:prstGeom prst="rect">
            <a:avLst/>
          </a:prstGeom>
          <a:solidFill>
            <a:srgbClr val="0080FF">
              <a:alpha val="80000"/>
            </a:srgbClr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d6eef6ecfa_0_36"/>
          <p:cNvSpPr/>
          <p:nvPr/>
        </p:nvSpPr>
        <p:spPr>
          <a:xfrm>
            <a:off x="320040" y="1051560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6eef6ecfa_0_36"/>
          <p:cNvSpPr/>
          <p:nvPr/>
        </p:nvSpPr>
        <p:spPr>
          <a:xfrm>
            <a:off x="1005840" y="1051560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CNN architecture depth directly impacts accuracy — 2 Conv per block beats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g3d6eef6ecfa_0_36"/>
          <p:cNvSpPr/>
          <p:nvPr/>
        </p:nvSpPr>
        <p:spPr>
          <a:xfrm>
            <a:off x="320040" y="1764792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C2E0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d6eef6ecfa_0_36"/>
          <p:cNvSpPr/>
          <p:nvPr/>
        </p:nvSpPr>
        <p:spPr>
          <a:xfrm>
            <a:off x="320040" y="1764792"/>
            <a:ext cx="594300" cy="594300"/>
          </a:xfrm>
          <a:prstGeom prst="rect">
            <a:avLst/>
          </a:prstGeom>
          <a:solidFill>
            <a:srgbClr val="00C2E0">
              <a:alpha val="80000"/>
            </a:srgbClr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d6eef6ecfa_0_36"/>
          <p:cNvSpPr/>
          <p:nvPr/>
        </p:nvSpPr>
        <p:spPr>
          <a:xfrm>
            <a:off x="320040" y="1764792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d6eef6ecfa_0_36"/>
          <p:cNvSpPr/>
          <p:nvPr/>
        </p:nvSpPr>
        <p:spPr>
          <a:xfrm>
            <a:off x="1005840" y="1764792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BatchNormalization is the single most impactful regularization technique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d6eef6ecfa_0_36"/>
          <p:cNvSpPr/>
          <p:nvPr/>
        </p:nvSpPr>
        <p:spPr>
          <a:xfrm>
            <a:off x="320040" y="2478024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00D4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d6eef6ecfa_0_36"/>
          <p:cNvSpPr/>
          <p:nvPr/>
        </p:nvSpPr>
        <p:spPr>
          <a:xfrm>
            <a:off x="320040" y="2478024"/>
            <a:ext cx="594300" cy="594300"/>
          </a:xfrm>
          <a:prstGeom prst="rect">
            <a:avLst/>
          </a:prstGeom>
          <a:solidFill>
            <a:srgbClr val="00D48A">
              <a:alpha val="80000"/>
            </a:srgbClr>
          </a:solidFill>
          <a:ln cap="flat" cmpd="sng" w="12700">
            <a:solidFill>
              <a:srgbClr val="00D4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d6eef6ecfa_0_36"/>
          <p:cNvSpPr/>
          <p:nvPr/>
        </p:nvSpPr>
        <p:spPr>
          <a:xfrm>
            <a:off x="320040" y="2478024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6eef6ecfa_0_36"/>
          <p:cNvSpPr/>
          <p:nvPr/>
        </p:nvSpPr>
        <p:spPr>
          <a:xfrm>
            <a:off x="1005840" y="2478024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Data Augmentation effectively reduces overfitting without extra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d6eef6ecfa_0_36"/>
          <p:cNvSpPr/>
          <p:nvPr/>
        </p:nvSpPr>
        <p:spPr>
          <a:xfrm>
            <a:off x="320040" y="3191256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FF9F43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d6eef6ecfa_0_36"/>
          <p:cNvSpPr/>
          <p:nvPr/>
        </p:nvSpPr>
        <p:spPr>
          <a:xfrm>
            <a:off x="320040" y="3191256"/>
            <a:ext cx="594300" cy="594300"/>
          </a:xfrm>
          <a:prstGeom prst="rect">
            <a:avLst/>
          </a:prstGeom>
          <a:solidFill>
            <a:srgbClr val="FF9F43">
              <a:alpha val="80000"/>
            </a:srgbClr>
          </a:solidFill>
          <a:ln cap="flat" cmpd="sng" w="12700">
            <a:solidFill>
              <a:srgbClr val="FF9F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6eef6ecfa_0_36"/>
          <p:cNvSpPr/>
          <p:nvPr/>
        </p:nvSpPr>
        <p:spPr>
          <a:xfrm>
            <a:off x="320040" y="3191256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g3d6eef6ecfa_0_36"/>
          <p:cNvSpPr/>
          <p:nvPr/>
        </p:nvSpPr>
        <p:spPr>
          <a:xfrm>
            <a:off x="1005840" y="3191256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Transfer Learning with MobileNetV2 achieves superior results with less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6eef6ecfa_0_36"/>
          <p:cNvSpPr/>
          <p:nvPr/>
        </p:nvSpPr>
        <p:spPr>
          <a:xfrm>
            <a:off x="320040" y="3904488"/>
            <a:ext cx="8503800" cy="594300"/>
          </a:xfrm>
          <a:prstGeom prst="rect">
            <a:avLst/>
          </a:prstGeom>
          <a:solidFill>
            <a:srgbClr val="152B4E"/>
          </a:solidFill>
          <a:ln cap="flat" cmpd="sng" w="12700">
            <a:solidFill>
              <a:srgbClr val="5B7FA6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6eef6ecfa_0_36"/>
          <p:cNvSpPr/>
          <p:nvPr/>
        </p:nvSpPr>
        <p:spPr>
          <a:xfrm>
            <a:off x="320040" y="3904488"/>
            <a:ext cx="594300" cy="594300"/>
          </a:xfrm>
          <a:prstGeom prst="rect">
            <a:avLst/>
          </a:prstGeom>
          <a:solidFill>
            <a:srgbClr val="5B7FA6">
              <a:alpha val="80000"/>
            </a:srgbClr>
          </a:solidFill>
          <a:ln cap="flat" cmpd="sng" w="12700">
            <a:solidFill>
              <a:srgbClr val="5B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d6eef6ecfa_0_36"/>
          <p:cNvSpPr/>
          <p:nvPr/>
        </p:nvSpPr>
        <p:spPr>
          <a:xfrm>
            <a:off x="320040" y="3904488"/>
            <a:ext cx="59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d6eef6ecfa_0_36"/>
          <p:cNvSpPr/>
          <p:nvPr/>
        </p:nvSpPr>
        <p:spPr>
          <a:xfrm>
            <a:off x="1005840" y="3904488"/>
            <a:ext cx="768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B4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B4D1"/>
                </a:solidFill>
                <a:latin typeface="Calibri"/>
                <a:ea typeface="Calibri"/>
                <a:cs typeface="Calibri"/>
                <a:sym typeface="Calibri"/>
              </a:rPr>
              <a:t>Callbacks (EarlyStopping, ReduceLROnPlateau) automate training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d6eef6ecfa_0_36"/>
          <p:cNvSpPr/>
          <p:nvPr/>
        </p:nvSpPr>
        <p:spPr>
          <a:xfrm>
            <a:off x="365760" y="466344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Thank You  ·  Questions?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d6eef6ecfa_0_36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00C2E0"/>
          </a:solidFill>
          <a:ln cap="flat" cmpd="sng" w="12700">
            <a:solidFill>
              <a:srgbClr val="00C2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d6eef6ecfa_0_36"/>
          <p:cNvSpPr/>
          <p:nvPr/>
        </p:nvSpPr>
        <p:spPr>
          <a:xfrm>
            <a:off x="8686800" y="484632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7FA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7FA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2026-04-17T08:34:50Z</dcterms:created>
  <dc:creator>PptxGenJS</dc:creator>
</cp:coreProperties>
</file>